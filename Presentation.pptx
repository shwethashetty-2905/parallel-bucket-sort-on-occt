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56" r:id="rId1"/>
  </p:sldMasterIdLst>
  <p:notesMasterIdLst>
    <p:notesMasterId r:id="rId23"/>
  </p:notesMasterIdLst>
  <p:sldIdLst>
    <p:sldId id="256" r:id="rId2"/>
    <p:sldId id="257" r:id="rId3"/>
    <p:sldId id="274" r:id="rId4"/>
    <p:sldId id="282" r:id="rId5"/>
    <p:sldId id="275" r:id="rId6"/>
    <p:sldId id="258" r:id="rId7"/>
    <p:sldId id="259" r:id="rId8"/>
    <p:sldId id="287" r:id="rId9"/>
    <p:sldId id="288" r:id="rId10"/>
    <p:sldId id="281" r:id="rId11"/>
    <p:sldId id="277" r:id="rId12"/>
    <p:sldId id="283" r:id="rId13"/>
    <p:sldId id="284" r:id="rId14"/>
    <p:sldId id="285" r:id="rId15"/>
    <p:sldId id="286" r:id="rId16"/>
    <p:sldId id="278" r:id="rId17"/>
    <p:sldId id="291" r:id="rId18"/>
    <p:sldId id="280" r:id="rId19"/>
    <p:sldId id="261" r:id="rId20"/>
    <p:sldId id="266" r:id="rId21"/>
    <p:sldId id="26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6C6E43-ECC0-45C5-9A76-C7B69B4A7487}" v="8" dt="2025-05-23T14:09:33.6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2" d="100"/>
          <a:sy n="62" d="100"/>
        </p:scale>
        <p:origin x="102"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43B209-58A9-4486-8925-87A0A6F66123}" type="datetimeFigureOut">
              <a:rPr lang="en-US" smtClean="0"/>
              <a:t>5/25/2025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E6C3D2-CA89-4B6C-B797-B63A293D0D46}" type="slidenum">
              <a:rPr lang="en-US" smtClean="0"/>
              <a:t>‹#›</a:t>
            </a:fld>
            <a:endParaRPr lang="en-US"/>
          </a:p>
        </p:txBody>
      </p:sp>
    </p:spTree>
    <p:extLst>
      <p:ext uri="{BB962C8B-B14F-4D97-AF65-F5344CB8AC3E}">
        <p14:creationId xmlns:p14="http://schemas.microsoft.com/office/powerpoint/2010/main" val="3893199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6280309-3368-4F07-A664-96BF57B12CD5}" type="datetime1">
              <a:rPr lang="en-US" smtClean="0"/>
              <a:t>5/25/2025</a:t>
            </a:fld>
            <a:endParaRPr lang="en-US"/>
          </a:p>
        </p:txBody>
      </p:sp>
      <p:sp>
        <p:nvSpPr>
          <p:cNvPr id="5" name="Footer Placeholder 4"/>
          <p:cNvSpPr>
            <a:spLocks noGrp="1"/>
          </p:cNvSpPr>
          <p:nvPr>
            <p:ph type="ftr" sz="quarter" idx="11"/>
          </p:nvPr>
        </p:nvSpPr>
        <p:spPr/>
        <p:txBody>
          <a:bodyPr/>
          <a:lstStyle/>
          <a:p>
            <a:r>
              <a:rPr lang="en-US"/>
              <a:t>BCA  VI Semester - BCAPRON601 - Mini Project</a:t>
            </a:r>
          </a:p>
        </p:txBody>
      </p:sp>
      <p:sp>
        <p:nvSpPr>
          <p:cNvPr id="6" name="Slide Number Placeholder 5"/>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196297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313A13A-ECF1-4993-A7CA-7B3B0399ABED}" type="datetime1">
              <a:rPr lang="en-US" smtClean="0"/>
              <a:t>5/25/2025</a:t>
            </a:fld>
            <a:endParaRPr lang="en-US"/>
          </a:p>
        </p:txBody>
      </p:sp>
      <p:sp>
        <p:nvSpPr>
          <p:cNvPr id="5" name="Footer Placeholder 4"/>
          <p:cNvSpPr>
            <a:spLocks noGrp="1"/>
          </p:cNvSpPr>
          <p:nvPr>
            <p:ph type="ftr" sz="quarter" idx="11"/>
          </p:nvPr>
        </p:nvSpPr>
        <p:spPr/>
        <p:txBody>
          <a:bodyPr/>
          <a:lstStyle/>
          <a:p>
            <a:r>
              <a:rPr lang="en-US"/>
              <a:t>BCA  VI Semester - BCAPRON601 - Mini Project</a:t>
            </a:r>
          </a:p>
        </p:txBody>
      </p:sp>
      <p:sp>
        <p:nvSpPr>
          <p:cNvPr id="6" name="Slide Number Placeholder 5"/>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3831265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E5C0795-D662-4EA1-8F09-36A0E562A4E3}" type="datetime1">
              <a:rPr lang="en-US" smtClean="0"/>
              <a:t>5/25/2025</a:t>
            </a:fld>
            <a:endParaRPr lang="en-US"/>
          </a:p>
        </p:txBody>
      </p:sp>
      <p:sp>
        <p:nvSpPr>
          <p:cNvPr id="5" name="Footer Placeholder 4"/>
          <p:cNvSpPr>
            <a:spLocks noGrp="1"/>
          </p:cNvSpPr>
          <p:nvPr>
            <p:ph type="ftr" sz="quarter" idx="11"/>
          </p:nvPr>
        </p:nvSpPr>
        <p:spPr/>
        <p:txBody>
          <a:bodyPr/>
          <a:lstStyle/>
          <a:p>
            <a:r>
              <a:rPr lang="en-US"/>
              <a:t>BCA  VI Semester - BCAPRON601 - Mini Project</a:t>
            </a:r>
          </a:p>
        </p:txBody>
      </p:sp>
      <p:sp>
        <p:nvSpPr>
          <p:cNvPr id="6" name="Slide Number Placeholder 5"/>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3051114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72DB547-ABB4-4EF5-93B6-7E5AB59BC539}" type="datetime1">
              <a:rPr lang="en-US" smtClean="0"/>
              <a:t>5/25/2025</a:t>
            </a:fld>
            <a:endParaRPr lang="en-US"/>
          </a:p>
        </p:txBody>
      </p:sp>
      <p:sp>
        <p:nvSpPr>
          <p:cNvPr id="6" name="Footer Placeholder 5"/>
          <p:cNvSpPr>
            <a:spLocks noGrp="1"/>
          </p:cNvSpPr>
          <p:nvPr>
            <p:ph type="ftr" sz="quarter" idx="11"/>
          </p:nvPr>
        </p:nvSpPr>
        <p:spPr/>
        <p:txBody>
          <a:bodyPr/>
          <a:lstStyle/>
          <a:p>
            <a:r>
              <a:rPr lang="en-US"/>
              <a:t>BCA  VI Semester - BCAPRON601 - Mini Project</a:t>
            </a:r>
          </a:p>
        </p:txBody>
      </p:sp>
      <p:sp>
        <p:nvSpPr>
          <p:cNvPr id="7" name="Slide Number Placeholder 6"/>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250754520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b="1"/>
            </a:lvl1p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09225F0-4A43-4EF8-BEA9-6C81A4B886BE}" type="datetime1">
              <a:rPr lang="en-US" smtClean="0"/>
              <a:t>5/25/2025</a:t>
            </a:fld>
            <a:endParaRPr lang="en-US"/>
          </a:p>
        </p:txBody>
      </p:sp>
      <p:sp>
        <p:nvSpPr>
          <p:cNvPr id="8" name="Footer Placeholder 7"/>
          <p:cNvSpPr>
            <a:spLocks noGrp="1"/>
          </p:cNvSpPr>
          <p:nvPr>
            <p:ph type="ftr" sz="quarter" idx="11"/>
          </p:nvPr>
        </p:nvSpPr>
        <p:spPr/>
        <p:txBody>
          <a:bodyPr/>
          <a:lstStyle/>
          <a:p>
            <a:r>
              <a:rPr lang="en-US"/>
              <a:t>BCA  VI Semester - BCAPRON601 - Mini Project</a:t>
            </a:r>
          </a:p>
        </p:txBody>
      </p:sp>
      <p:sp>
        <p:nvSpPr>
          <p:cNvPr id="9" name="Slide Number Placeholder 8"/>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325114352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CB5701B-A8C2-4CEA-918A-BB9D64DE95A4}" type="datetime1">
              <a:rPr lang="en-US" smtClean="0"/>
              <a:t>5/25/2025</a:t>
            </a:fld>
            <a:endParaRPr lang="en-US"/>
          </a:p>
        </p:txBody>
      </p:sp>
      <p:sp>
        <p:nvSpPr>
          <p:cNvPr id="4" name="Footer Placeholder 3"/>
          <p:cNvSpPr>
            <a:spLocks noGrp="1"/>
          </p:cNvSpPr>
          <p:nvPr>
            <p:ph type="ftr" sz="quarter" idx="11"/>
          </p:nvPr>
        </p:nvSpPr>
        <p:spPr/>
        <p:txBody>
          <a:bodyPr/>
          <a:lstStyle/>
          <a:p>
            <a:r>
              <a:rPr lang="en-US"/>
              <a:t>BCA  VI Semester - BCAPRON601 - Mini Project</a:t>
            </a:r>
          </a:p>
        </p:txBody>
      </p:sp>
      <p:sp>
        <p:nvSpPr>
          <p:cNvPr id="5" name="Slide Number Placeholder 4"/>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3580837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4FD220-102E-4DF2-B2B9-C44FAF9527A0}" type="datetime1">
              <a:rPr lang="en-US" smtClean="0"/>
              <a:t>5/25/2025</a:t>
            </a:fld>
            <a:endParaRPr lang="en-US"/>
          </a:p>
        </p:txBody>
      </p:sp>
      <p:sp>
        <p:nvSpPr>
          <p:cNvPr id="3" name="Footer Placeholder 2"/>
          <p:cNvSpPr>
            <a:spLocks noGrp="1"/>
          </p:cNvSpPr>
          <p:nvPr>
            <p:ph type="ftr" sz="quarter" idx="11"/>
          </p:nvPr>
        </p:nvSpPr>
        <p:spPr/>
        <p:txBody>
          <a:bodyPr/>
          <a:lstStyle/>
          <a:p>
            <a:r>
              <a:rPr lang="en-US"/>
              <a:t>BCA  VI Semester - BCAPRON601 - Mini Project</a:t>
            </a:r>
          </a:p>
        </p:txBody>
      </p:sp>
      <p:sp>
        <p:nvSpPr>
          <p:cNvPr id="4" name="Slide Number Placeholder 3"/>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3554355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647CD12-47F3-4E5A-902D-E3B9764377BB}" type="datetime1">
              <a:rPr lang="en-US" smtClean="0"/>
              <a:t>5/25/2025</a:t>
            </a:fld>
            <a:endParaRPr lang="en-US"/>
          </a:p>
        </p:txBody>
      </p:sp>
      <p:sp>
        <p:nvSpPr>
          <p:cNvPr id="6" name="Footer Placeholder 5"/>
          <p:cNvSpPr>
            <a:spLocks noGrp="1"/>
          </p:cNvSpPr>
          <p:nvPr>
            <p:ph type="ftr" sz="quarter" idx="11"/>
          </p:nvPr>
        </p:nvSpPr>
        <p:spPr/>
        <p:txBody>
          <a:bodyPr/>
          <a:lstStyle/>
          <a:p>
            <a:r>
              <a:rPr lang="en-US"/>
              <a:t>BCA  VI Semester - BCAPRON601 - Mini Project</a:t>
            </a:r>
          </a:p>
        </p:txBody>
      </p:sp>
      <p:sp>
        <p:nvSpPr>
          <p:cNvPr id="7" name="Slide Number Placeholder 6"/>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347283107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AFB66A0-E8FC-4ECF-8DE2-1FDD547FCD6D}" type="datetime1">
              <a:rPr lang="en-US" smtClean="0"/>
              <a:t>5/25/2025</a:t>
            </a:fld>
            <a:endParaRPr lang="en-US"/>
          </a:p>
        </p:txBody>
      </p:sp>
      <p:sp>
        <p:nvSpPr>
          <p:cNvPr id="6" name="Footer Placeholder 5"/>
          <p:cNvSpPr>
            <a:spLocks noGrp="1"/>
          </p:cNvSpPr>
          <p:nvPr>
            <p:ph type="ftr" sz="quarter" idx="11"/>
          </p:nvPr>
        </p:nvSpPr>
        <p:spPr/>
        <p:txBody>
          <a:bodyPr/>
          <a:lstStyle/>
          <a:p>
            <a:r>
              <a:rPr lang="en-US"/>
              <a:t>BCA  VI Semester - BCAPRON601 - Mini Project</a:t>
            </a:r>
            <a:endParaRPr lang="en-US" dirty="0"/>
          </a:p>
        </p:txBody>
      </p:sp>
      <p:sp>
        <p:nvSpPr>
          <p:cNvPr id="7" name="Slide Number Placeholder 6"/>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2603332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0F8E120-B40A-490A-8FFF-F7EC4228A588}" type="datetime1">
              <a:rPr lang="en-US" smtClean="0"/>
              <a:t>5/25/2025</a:t>
            </a:fld>
            <a:endParaRPr lang="en-US"/>
          </a:p>
        </p:txBody>
      </p:sp>
      <p:sp>
        <p:nvSpPr>
          <p:cNvPr id="5" name="Footer Placeholder 4"/>
          <p:cNvSpPr>
            <a:spLocks noGrp="1"/>
          </p:cNvSpPr>
          <p:nvPr>
            <p:ph type="ftr" sz="quarter" idx="11"/>
          </p:nvPr>
        </p:nvSpPr>
        <p:spPr/>
        <p:txBody>
          <a:bodyPr/>
          <a:lstStyle/>
          <a:p>
            <a:r>
              <a:rPr lang="en-US"/>
              <a:t>BCA  VI Semester - BCAPRON601 - Mini Project</a:t>
            </a:r>
          </a:p>
        </p:txBody>
      </p:sp>
      <p:sp>
        <p:nvSpPr>
          <p:cNvPr id="6" name="Slide Number Placeholder 5"/>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991485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BED2073-FD01-431A-AE3B-72E1FD067D64}" type="datetime1">
              <a:rPr lang="en-US" smtClean="0"/>
              <a:t>5/25/2025</a:t>
            </a:fld>
            <a:endParaRPr lang="en-US"/>
          </a:p>
        </p:txBody>
      </p:sp>
      <p:sp>
        <p:nvSpPr>
          <p:cNvPr id="5" name="Footer Placeholder 4"/>
          <p:cNvSpPr>
            <a:spLocks noGrp="1"/>
          </p:cNvSpPr>
          <p:nvPr>
            <p:ph type="ftr" sz="quarter" idx="11"/>
          </p:nvPr>
        </p:nvSpPr>
        <p:spPr/>
        <p:txBody>
          <a:bodyPr/>
          <a:lstStyle/>
          <a:p>
            <a:r>
              <a:rPr lang="en-US"/>
              <a:t>BCA  VI Semester - BCAPRON601 - Mini Project</a:t>
            </a:r>
          </a:p>
        </p:txBody>
      </p:sp>
      <p:sp>
        <p:nvSpPr>
          <p:cNvPr id="6" name="Slide Number Placeholder 5"/>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2678781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53BB43-1913-4E7B-9557-B14D19DE4462}" type="datetime1">
              <a:rPr lang="en-US" smtClean="0"/>
              <a:t>5/25/2025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BCA  VI Semester - BCAPRON601 - Mini Project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478A47-3926-412E-85D4-77E7D23FF408}" type="slidenum">
              <a:rPr lang="en-US" smtClean="0"/>
              <a:t>‹#›</a:t>
            </a:fld>
            <a:endParaRPr lang="en-US"/>
          </a:p>
        </p:txBody>
      </p:sp>
    </p:spTree>
    <p:extLst>
      <p:ext uri="{BB962C8B-B14F-4D97-AF65-F5344CB8AC3E}">
        <p14:creationId xmlns:p14="http://schemas.microsoft.com/office/powerpoint/2010/main" val="533274327"/>
      </p:ext>
    </p:extLst>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gemini.google.com/" TargetMode="External"/><Relationship Id="rId2" Type="http://schemas.openxmlformats.org/officeDocument/2006/relationships/hyperlink" Target="https://chatgpt.com/"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gif"/><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2DE8-4FA0-4AF3-868A-85030FA9741A}"/>
              </a:ext>
            </a:extLst>
          </p:cNvPr>
          <p:cNvSpPr>
            <a:spLocks noGrp="1"/>
          </p:cNvSpPr>
          <p:nvPr>
            <p:ph type="ctrTitle"/>
          </p:nvPr>
        </p:nvSpPr>
        <p:spPr>
          <a:xfrm>
            <a:off x="1158684" y="1995190"/>
            <a:ext cx="9554817" cy="1108698"/>
          </a:xfrm>
        </p:spPr>
        <p:txBody>
          <a:bodyPr>
            <a:noAutofit/>
          </a:bodyPr>
          <a:lstStyle/>
          <a:p>
            <a:r>
              <a:rPr lang="en-US" sz="4000" dirty="0">
                <a:latin typeface="Times New Roman" panose="02020603050405020304" pitchFamily="18" charset="0"/>
                <a:cs typeface="Times New Roman" panose="02020603050405020304" pitchFamily="18" charset="0"/>
              </a:rPr>
              <a:t>Parallel Bucket Sort on Optical Chained Cubic Tree Interconnection Network</a:t>
            </a:r>
          </a:p>
        </p:txBody>
      </p:sp>
      <p:sp>
        <p:nvSpPr>
          <p:cNvPr id="3" name="Subtitle 2">
            <a:extLst>
              <a:ext uri="{FF2B5EF4-FFF2-40B4-BE49-F238E27FC236}">
                <a16:creationId xmlns:a16="http://schemas.microsoft.com/office/drawing/2014/main" id="{10D4727D-9EF1-4D91-9E41-FB15D5CD1C01}"/>
              </a:ext>
            </a:extLst>
          </p:cNvPr>
          <p:cNvSpPr>
            <a:spLocks noGrp="1"/>
          </p:cNvSpPr>
          <p:nvPr>
            <p:ph type="subTitle" idx="1"/>
          </p:nvPr>
        </p:nvSpPr>
        <p:spPr>
          <a:xfrm>
            <a:off x="1158685" y="4200525"/>
            <a:ext cx="9554816" cy="1911260"/>
          </a:xfrm>
        </p:spPr>
        <p:txBody>
          <a:bodyPr>
            <a:normAutofit/>
          </a:bodyPr>
          <a:lstStyle/>
          <a:p>
            <a:r>
              <a:rPr lang="en-US" dirty="0">
                <a:latin typeface="Times New Roman" panose="02020603050405020304" pitchFamily="18" charset="0"/>
                <a:cs typeface="Times New Roman" panose="02020603050405020304" pitchFamily="18" charset="0"/>
              </a:rPr>
              <a:t>Shwetha B M               </a:t>
            </a:r>
            <a:r>
              <a:rPr lang="en-US" sz="2400" dirty="0">
                <a:latin typeface="Times New Roman" panose="02020603050405020304" pitchFamily="18" charset="0"/>
                <a:cs typeface="Times New Roman" panose="02020603050405020304" pitchFamily="18" charset="0"/>
              </a:rPr>
              <a:t>(U05DG22S0032)</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Ashritha                       </a:t>
            </a:r>
            <a:r>
              <a:rPr lang="en-US" sz="2400" dirty="0">
                <a:latin typeface="Times New Roman" panose="02020603050405020304" pitchFamily="18" charset="0"/>
                <a:cs typeface="Times New Roman" panose="02020603050405020304" pitchFamily="18" charset="0"/>
              </a:rPr>
              <a:t>(U05DG22S0066)</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Shilpa                          (U05DG22S0069)</a:t>
            </a:r>
          </a:p>
          <a:p>
            <a:r>
              <a:rPr lang="en-US"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8680FE58-D649-4972-9C4C-4C3622909B82}"/>
              </a:ext>
            </a:extLst>
          </p:cNvPr>
          <p:cNvSpPr/>
          <p:nvPr/>
        </p:nvSpPr>
        <p:spPr>
          <a:xfrm>
            <a:off x="1765569" y="746215"/>
            <a:ext cx="8784389" cy="923330"/>
          </a:xfrm>
          <a:prstGeom prst="rect">
            <a:avLst/>
          </a:prstGeom>
        </p:spPr>
        <p:txBody>
          <a:bodyPr wrap="square">
            <a:spAutoFit/>
          </a:bodyPr>
          <a:lstStyle/>
          <a:p>
            <a:pPr algn="ctr"/>
            <a:r>
              <a:rPr lang="en-IN" sz="20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Dr G Shankar Government Women’s First Grade College &amp; PG Study Centre</a:t>
            </a:r>
          </a:p>
          <a:p>
            <a:pPr algn="ctr"/>
            <a:r>
              <a:rPr lang="en-IN" sz="14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p>
          <a:p>
            <a:pPr algn="ctr"/>
            <a:r>
              <a:rPr lang="en-IN" sz="20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Ajjarkadu Udupi</a:t>
            </a:r>
            <a:endParaRPr lang="en-US" sz="28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1026" name="Picture 2" descr="Image result for dce karnataka logo">
            <a:extLst>
              <a:ext uri="{FF2B5EF4-FFF2-40B4-BE49-F238E27FC236}">
                <a16:creationId xmlns:a16="http://schemas.microsoft.com/office/drawing/2014/main" id="{C66082D6-5173-4502-B060-8B24B7DBE2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02" y="645809"/>
            <a:ext cx="1219783" cy="118536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DC17A3C-9F03-473C-B1EB-25B3D5BF738B}"/>
              </a:ext>
            </a:extLst>
          </p:cNvPr>
          <p:cNvSpPr txBox="1"/>
          <p:nvPr/>
        </p:nvSpPr>
        <p:spPr>
          <a:xfrm>
            <a:off x="5043379" y="3526968"/>
            <a:ext cx="1785425"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Team No: 14</a:t>
            </a:r>
          </a:p>
        </p:txBody>
      </p:sp>
      <p:pic>
        <p:nvPicPr>
          <p:cNvPr id="7" name="Picture 2" descr="Dr G Shankar Govt Womens First Grade College &amp; PG Study Centre, Udupi">
            <a:extLst>
              <a:ext uri="{FF2B5EF4-FFF2-40B4-BE49-F238E27FC236}">
                <a16:creationId xmlns:a16="http://schemas.microsoft.com/office/drawing/2014/main" id="{A3A96538-422D-44D5-B495-884A6BE093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8243" y="604922"/>
            <a:ext cx="1064825" cy="1267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4586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530E3-5052-452B-8D39-7F526A5D8FBA}"/>
              </a:ext>
            </a:extLst>
          </p:cNvPr>
          <p:cNvSpPr>
            <a:spLocks noGrp="1"/>
          </p:cNvSpPr>
          <p:nvPr>
            <p:ph type="title"/>
          </p:nvPr>
        </p:nvSpPr>
        <p:spPr>
          <a:xfrm>
            <a:off x="573156" y="320676"/>
            <a:ext cx="10515600" cy="1163568"/>
          </a:xfrm>
        </p:spPr>
        <p:txBody>
          <a:bodyPr>
            <a:normAutofit/>
          </a:bodyPr>
          <a:lstStyle/>
          <a:p>
            <a:r>
              <a:rPr lang="en-US" sz="4800" b="1" dirty="0"/>
              <a:t>Table of Contents</a:t>
            </a:r>
          </a:p>
        </p:txBody>
      </p:sp>
      <p:sp>
        <p:nvSpPr>
          <p:cNvPr id="3" name="Content Placeholder 2">
            <a:extLst>
              <a:ext uri="{FF2B5EF4-FFF2-40B4-BE49-F238E27FC236}">
                <a16:creationId xmlns:a16="http://schemas.microsoft.com/office/drawing/2014/main" id="{D0B515B1-7E36-41F7-AD52-0D67F30E0C37}"/>
              </a:ext>
            </a:extLst>
          </p:cNvPr>
          <p:cNvSpPr>
            <a:spLocks noGrp="1"/>
          </p:cNvSpPr>
          <p:nvPr>
            <p:ph idx="1"/>
          </p:nvPr>
        </p:nvSpPr>
        <p:spPr>
          <a:xfrm>
            <a:off x="838200" y="1634556"/>
            <a:ext cx="10515600" cy="4351338"/>
          </a:xfrm>
        </p:spPr>
        <p:txBody>
          <a:bodyPr>
            <a:normAutofit lnSpcReduction="10000"/>
          </a:bodyPr>
          <a:lstStyle/>
          <a:p>
            <a:pPr lvl="0"/>
            <a:r>
              <a:rPr lang="en-IN" b="1" dirty="0"/>
              <a:t>Introduction</a:t>
            </a:r>
            <a:r>
              <a:rPr lang="en-IN" dirty="0"/>
              <a:t> </a:t>
            </a:r>
          </a:p>
          <a:p>
            <a:pPr lvl="1"/>
            <a:r>
              <a:rPr lang="en-IN" dirty="0"/>
              <a:t>Problem Statement </a:t>
            </a:r>
          </a:p>
          <a:p>
            <a:pPr lvl="1"/>
            <a:r>
              <a:rPr lang="en-IN" dirty="0"/>
              <a:t>Objectives</a:t>
            </a:r>
          </a:p>
          <a:p>
            <a:pPr lvl="0"/>
            <a:r>
              <a:rPr lang="en-IN" b="1" dirty="0"/>
              <a:t>Designing AND Implementation </a:t>
            </a:r>
          </a:p>
          <a:p>
            <a:pPr lvl="0"/>
            <a:r>
              <a:rPr lang="en-IN" b="1" dirty="0"/>
              <a:t>Performance Evaluation </a:t>
            </a:r>
          </a:p>
          <a:p>
            <a:pPr lvl="0"/>
            <a:r>
              <a:rPr lang="en-IN" b="1" dirty="0"/>
              <a:t>Research Methodology</a:t>
            </a:r>
          </a:p>
          <a:p>
            <a:pPr lvl="1"/>
            <a:r>
              <a:rPr lang="en-IN" dirty="0"/>
              <a:t>Conclusion</a:t>
            </a:r>
          </a:p>
          <a:p>
            <a:pPr lvl="1"/>
            <a:r>
              <a:rPr lang="en-IN" dirty="0"/>
              <a:t>Contribution of this Work </a:t>
            </a:r>
          </a:p>
          <a:p>
            <a:pPr lvl="1"/>
            <a:r>
              <a:rPr lang="en-IN" dirty="0"/>
              <a:t>Future Scope</a:t>
            </a:r>
          </a:p>
          <a:p>
            <a:r>
              <a:rPr lang="en-US" b="1" dirty="0"/>
              <a:t>References</a:t>
            </a:r>
            <a:endParaRPr lang="en-IN" b="1" dirty="0"/>
          </a:p>
          <a:p>
            <a:endParaRPr lang="en-IN" dirty="0"/>
          </a:p>
          <a:p>
            <a:pPr lvl="1"/>
            <a:endParaRPr lang="en-IN" sz="1600" dirty="0"/>
          </a:p>
        </p:txBody>
      </p:sp>
      <p:sp>
        <p:nvSpPr>
          <p:cNvPr id="4" name="Footer Placeholder 3">
            <a:extLst>
              <a:ext uri="{FF2B5EF4-FFF2-40B4-BE49-F238E27FC236}">
                <a16:creationId xmlns:a16="http://schemas.microsoft.com/office/drawing/2014/main" id="{8C14FD8D-30CB-4C95-9C6D-66A8ED2C57DC}"/>
              </a:ext>
            </a:extLst>
          </p:cNvPr>
          <p:cNvSpPr>
            <a:spLocks noGrp="1"/>
          </p:cNvSpPr>
          <p:nvPr>
            <p:ph type="ftr" sz="quarter" idx="11"/>
          </p:nvPr>
        </p:nvSpPr>
        <p:spPr/>
        <p:txBody>
          <a:bodyPr/>
          <a:lstStyle/>
          <a:p>
            <a:r>
              <a:rPr lang="en-US" dirty="0"/>
              <a:t>BCA  VI Semester - BCAPRON601 - Mini Project</a:t>
            </a:r>
          </a:p>
        </p:txBody>
      </p:sp>
    </p:spTree>
    <p:extLst>
      <p:ext uri="{BB962C8B-B14F-4D97-AF65-F5344CB8AC3E}">
        <p14:creationId xmlns:p14="http://schemas.microsoft.com/office/powerpoint/2010/main" val="425171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C9992-AC38-465B-B4D0-02BB3CE45E9D}"/>
              </a:ext>
            </a:extLst>
          </p:cNvPr>
          <p:cNvSpPr>
            <a:spLocks noGrp="1"/>
          </p:cNvSpPr>
          <p:nvPr>
            <p:ph type="title"/>
          </p:nvPr>
        </p:nvSpPr>
        <p:spPr>
          <a:xfrm>
            <a:off x="614149" y="365125"/>
            <a:ext cx="10739651" cy="999651"/>
          </a:xfrm>
        </p:spPr>
        <p:txBody>
          <a:bodyPr>
            <a:normAutofit fontScale="90000"/>
          </a:bodyPr>
          <a:lstStyle/>
          <a:p>
            <a:r>
              <a:rPr lang="en-US" sz="4400" dirty="0">
                <a:cs typeface="Times New Roman" panose="02020603050405020304" pitchFamily="18" charset="0"/>
              </a:rPr>
              <a:t>Parallel Bucket Sort on Optical Chained Cubic Tree Interconnection Network</a:t>
            </a:r>
            <a:endParaRPr lang="en-US" dirty="0"/>
          </a:p>
        </p:txBody>
      </p:sp>
      <p:sp>
        <p:nvSpPr>
          <p:cNvPr id="3" name="Content Placeholder 2">
            <a:extLst>
              <a:ext uri="{FF2B5EF4-FFF2-40B4-BE49-F238E27FC236}">
                <a16:creationId xmlns:a16="http://schemas.microsoft.com/office/drawing/2014/main" id="{70C93037-DF15-4807-A746-877CE0DF703A}"/>
              </a:ext>
            </a:extLst>
          </p:cNvPr>
          <p:cNvSpPr>
            <a:spLocks noGrp="1"/>
          </p:cNvSpPr>
          <p:nvPr>
            <p:ph idx="1"/>
          </p:nvPr>
        </p:nvSpPr>
        <p:spPr/>
        <p:txBody>
          <a:bodyPr>
            <a:normAutofit/>
          </a:bodyPr>
          <a:lstStyle/>
          <a:p>
            <a:pPr>
              <a:lnSpc>
                <a:spcPct val="150000"/>
              </a:lnSpc>
            </a:pPr>
            <a:r>
              <a:rPr lang="en-US" sz="2400" dirty="0">
                <a:latin typeface="Times New Roman" panose="02020603050405020304" pitchFamily="18" charset="0"/>
                <a:cs typeface="Times New Roman" panose="02020603050405020304" pitchFamily="18" charset="0"/>
              </a:rPr>
              <a:t>Parallel Bucket Sort  used to divides data into buckets and sorts them in parallel.</a:t>
            </a:r>
          </a:p>
          <a:p>
            <a:pPr>
              <a:lnSpc>
                <a:spcPct val="150000"/>
              </a:lnSpc>
            </a:pPr>
            <a:r>
              <a:rPr lang="en-US" sz="2400" dirty="0">
                <a:latin typeface="Times New Roman" panose="02020603050405020304" pitchFamily="18" charset="0"/>
                <a:cs typeface="Times New Roman" panose="02020603050405020304" pitchFamily="18" charset="0"/>
              </a:rPr>
              <a:t>Uses OCCT network for fast, optical data communication.</a:t>
            </a:r>
          </a:p>
          <a:p>
            <a:pPr>
              <a:lnSpc>
                <a:spcPct val="150000"/>
              </a:lnSpc>
            </a:pPr>
            <a:r>
              <a:rPr lang="en-US" sz="2400" dirty="0">
                <a:latin typeface="Times New Roman" panose="02020603050405020304" pitchFamily="18" charset="0"/>
                <a:cs typeface="Times New Roman" panose="02020603050405020304" pitchFamily="18" charset="0"/>
              </a:rPr>
              <a:t>Each node sorts locally using multiprocessing</a:t>
            </a:r>
          </a:p>
          <a:p>
            <a:pPr>
              <a:lnSpc>
                <a:spcPct val="150000"/>
              </a:lnSpc>
            </a:pPr>
            <a:r>
              <a:rPr lang="en-US" sz="2400" dirty="0">
                <a:latin typeface="Times New Roman" panose="02020603050405020304" pitchFamily="18" charset="0"/>
                <a:cs typeface="Times New Roman" panose="02020603050405020304" pitchFamily="18" charset="0"/>
              </a:rPr>
              <a:t>Merges sorted buckets for final output efficiently.</a:t>
            </a:r>
          </a:p>
        </p:txBody>
      </p:sp>
      <p:sp>
        <p:nvSpPr>
          <p:cNvPr id="4" name="Footer Placeholder 3">
            <a:extLst>
              <a:ext uri="{FF2B5EF4-FFF2-40B4-BE49-F238E27FC236}">
                <a16:creationId xmlns:a16="http://schemas.microsoft.com/office/drawing/2014/main" id="{9967CC8A-AC72-4967-A1C8-DA71A7A08EA9}"/>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2490382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C9992-AC38-465B-B4D0-02BB3CE45E9D}"/>
              </a:ext>
            </a:extLst>
          </p:cNvPr>
          <p:cNvSpPr>
            <a:spLocks noGrp="1"/>
          </p:cNvSpPr>
          <p:nvPr>
            <p:ph type="title"/>
          </p:nvPr>
        </p:nvSpPr>
        <p:spPr>
          <a:xfrm>
            <a:off x="614149" y="365125"/>
            <a:ext cx="10739651" cy="999651"/>
          </a:xfrm>
        </p:spPr>
        <p:txBody>
          <a:bodyPr>
            <a:normAutofit/>
          </a:bodyPr>
          <a:lstStyle/>
          <a:p>
            <a:r>
              <a:rPr lang="en-IN" dirty="0"/>
              <a:t>Problem</a:t>
            </a:r>
            <a:r>
              <a:rPr lang="en-IN" b="0" dirty="0"/>
              <a:t> </a:t>
            </a:r>
            <a:r>
              <a:rPr lang="en-IN" dirty="0"/>
              <a:t>Statement </a:t>
            </a:r>
            <a:endParaRPr lang="en-US" dirty="0"/>
          </a:p>
        </p:txBody>
      </p:sp>
      <p:sp>
        <p:nvSpPr>
          <p:cNvPr id="3" name="Content Placeholder 2">
            <a:extLst>
              <a:ext uri="{FF2B5EF4-FFF2-40B4-BE49-F238E27FC236}">
                <a16:creationId xmlns:a16="http://schemas.microsoft.com/office/drawing/2014/main" id="{70C93037-DF15-4807-A746-877CE0DF703A}"/>
              </a:ext>
            </a:extLst>
          </p:cNvPr>
          <p:cNvSpPr>
            <a:spLocks noGrp="1"/>
          </p:cNvSpPr>
          <p:nvPr>
            <p:ph idx="1"/>
          </p:nvPr>
        </p:nvSpPr>
        <p:spPr/>
        <p:txBody>
          <a:bodyPr/>
          <a:lstStyle/>
          <a:p>
            <a:pPr>
              <a:lnSpc>
                <a:spcPct val="150000"/>
              </a:lnSpc>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Efficient Data Distribution Among Processors.</a:t>
            </a:r>
          </a:p>
          <a:p>
            <a:pPr>
              <a:lnSpc>
                <a:spcPct val="150000"/>
              </a:lnSpc>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High Inter-Processor Communication Overhead.</a:t>
            </a:r>
          </a:p>
          <a:p>
            <a:pPr>
              <a:lnSpc>
                <a:spcPct val="150000"/>
              </a:lnSpc>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Managing a Large Number of Buckets in a Parallel Environment. </a:t>
            </a:r>
          </a:p>
          <a:p>
            <a:pPr>
              <a:lnSpc>
                <a:spcPct val="150000"/>
              </a:lnSpc>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Efficient Merging of Sorted Data from Buckets.</a:t>
            </a:r>
          </a:p>
          <a:p>
            <a:pPr>
              <a:lnSpc>
                <a:spcPct val="150000"/>
              </a:lnSpc>
            </a:pPr>
            <a:endParaRPr lang="en-IN" sz="1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endParaRPr lang="en-IN" sz="1800" b="1"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endParaRPr lang="en-IN" sz="1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endParaRPr lang="en-US" dirty="0"/>
          </a:p>
          <a:p>
            <a:endParaRPr lang="en-US" dirty="0"/>
          </a:p>
        </p:txBody>
      </p:sp>
      <p:sp>
        <p:nvSpPr>
          <p:cNvPr id="4" name="Footer Placeholder 3">
            <a:extLst>
              <a:ext uri="{FF2B5EF4-FFF2-40B4-BE49-F238E27FC236}">
                <a16:creationId xmlns:a16="http://schemas.microsoft.com/office/drawing/2014/main" id="{9967CC8A-AC72-4967-A1C8-DA71A7A08EA9}"/>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1595907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C9992-AC38-465B-B4D0-02BB3CE45E9D}"/>
              </a:ext>
            </a:extLst>
          </p:cNvPr>
          <p:cNvSpPr>
            <a:spLocks noGrp="1"/>
          </p:cNvSpPr>
          <p:nvPr>
            <p:ph type="title"/>
          </p:nvPr>
        </p:nvSpPr>
        <p:spPr>
          <a:xfrm>
            <a:off x="614149" y="365125"/>
            <a:ext cx="10739651" cy="999651"/>
          </a:xfrm>
        </p:spPr>
        <p:txBody>
          <a:bodyPr>
            <a:normAutofit/>
          </a:bodyPr>
          <a:lstStyle/>
          <a:p>
            <a:r>
              <a:rPr lang="en-IN" dirty="0"/>
              <a:t>Objectives</a:t>
            </a:r>
            <a:endParaRPr lang="en-US" dirty="0"/>
          </a:p>
        </p:txBody>
      </p:sp>
      <p:sp>
        <p:nvSpPr>
          <p:cNvPr id="3" name="Content Placeholder 2">
            <a:extLst>
              <a:ext uri="{FF2B5EF4-FFF2-40B4-BE49-F238E27FC236}">
                <a16:creationId xmlns:a16="http://schemas.microsoft.com/office/drawing/2014/main" id="{70C93037-DF15-4807-A746-877CE0DF703A}"/>
              </a:ext>
            </a:extLst>
          </p:cNvPr>
          <p:cNvSpPr>
            <a:spLocks noGrp="1"/>
          </p:cNvSpPr>
          <p:nvPr>
            <p:ph idx="1"/>
          </p:nvPr>
        </p:nvSpPr>
        <p:spPr/>
        <p:txBody>
          <a:bodyPr/>
          <a:lstStyle/>
          <a:p>
            <a:pPr marL="457200" lvl="1" indent="0">
              <a:buNone/>
            </a:pPr>
            <a:endParaRPr lang="en-IN" dirty="0">
              <a:solidFill>
                <a:srgbClr val="000000"/>
              </a:solidFill>
              <a:effectLst/>
              <a:latin typeface="Times New Roman" panose="02020603050405020304" pitchFamily="18" charset="0"/>
              <a:ea typeface="Times New Roman" panose="02020603050405020304" pitchFamily="18" charset="0"/>
            </a:endParaRPr>
          </a:p>
          <a:p>
            <a:pPr lvl="1">
              <a:lnSpc>
                <a:spcPct val="150000"/>
              </a:lnSpc>
            </a:pPr>
            <a:r>
              <a:rPr lang="en-IN" dirty="0">
                <a:solidFill>
                  <a:srgbClr val="000000"/>
                </a:solidFill>
                <a:effectLst/>
                <a:latin typeface="Times New Roman" panose="02020603050405020304" pitchFamily="18" charset="0"/>
                <a:ea typeface="Times New Roman" panose="02020603050405020304" pitchFamily="18" charset="0"/>
              </a:rPr>
              <a:t>To implement the parallel Bucket Sort algorithm in Python.</a:t>
            </a:r>
            <a:endParaRPr lang="en-US" dirty="0"/>
          </a:p>
          <a:p>
            <a:pPr lvl="1">
              <a:lnSpc>
                <a:spcPct val="150000"/>
              </a:lnSpc>
            </a:pPr>
            <a:r>
              <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To Distribute the data in an OCCT Network. </a:t>
            </a:r>
            <a:endParaRPr lang="en-US" dirty="0">
              <a:latin typeface="Times New Roman" panose="02020603050405020304" pitchFamily="18" charset="0"/>
              <a:cs typeface="Times New Roman" panose="02020603050405020304" pitchFamily="18" charset="0"/>
            </a:endParaRPr>
          </a:p>
          <a:p>
            <a:pPr lvl="1">
              <a:lnSpc>
                <a:spcPct val="150000"/>
              </a:lnSpc>
            </a:pPr>
            <a:r>
              <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To show the Parallel Sorting at Network Node. </a:t>
            </a:r>
            <a:endParaRPr lang="en-US" dirty="0">
              <a:latin typeface="Times New Roman" panose="02020603050405020304" pitchFamily="18" charset="0"/>
              <a:cs typeface="Times New Roman" panose="02020603050405020304" pitchFamily="18" charset="0"/>
            </a:endParaRPr>
          </a:p>
          <a:p>
            <a:pPr lvl="1">
              <a:lnSpc>
                <a:spcPct val="150000"/>
              </a:lnSpc>
            </a:pPr>
            <a:r>
              <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To Visualize the Sorting Process and Data Distribution. </a:t>
            </a:r>
          </a:p>
          <a:p>
            <a:pPr lvl="1">
              <a:lnSpc>
                <a:spcPct val="150000"/>
              </a:lnSpc>
            </a:pPr>
            <a:endParaRPr lang="en-US" dirty="0"/>
          </a:p>
          <a:p>
            <a:pPr lvl="1"/>
            <a:endParaRPr lang="en-US" dirty="0"/>
          </a:p>
          <a:p>
            <a:endParaRPr lang="en-US" dirty="0"/>
          </a:p>
        </p:txBody>
      </p:sp>
      <p:sp>
        <p:nvSpPr>
          <p:cNvPr id="4" name="Footer Placeholder 3">
            <a:extLst>
              <a:ext uri="{FF2B5EF4-FFF2-40B4-BE49-F238E27FC236}">
                <a16:creationId xmlns:a16="http://schemas.microsoft.com/office/drawing/2014/main" id="{9967CC8A-AC72-4967-A1C8-DA71A7A08EA9}"/>
              </a:ext>
            </a:extLst>
          </p:cNvPr>
          <p:cNvSpPr>
            <a:spLocks noGrp="1"/>
          </p:cNvSpPr>
          <p:nvPr>
            <p:ph type="ftr" sz="quarter" idx="11"/>
          </p:nvPr>
        </p:nvSpPr>
        <p:spPr/>
        <p:txBody>
          <a:bodyPr/>
          <a:lstStyle/>
          <a:p>
            <a:r>
              <a:rPr lang="en-US"/>
              <a:t>BCA  VI Semester - BCAPRON601 - Mini Project</a:t>
            </a:r>
            <a:endParaRPr lang="en-US" dirty="0"/>
          </a:p>
        </p:txBody>
      </p:sp>
    </p:spTree>
    <p:extLst>
      <p:ext uri="{BB962C8B-B14F-4D97-AF65-F5344CB8AC3E}">
        <p14:creationId xmlns:p14="http://schemas.microsoft.com/office/powerpoint/2010/main" val="1902811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C9992-AC38-465B-B4D0-02BB3CE45E9D}"/>
              </a:ext>
            </a:extLst>
          </p:cNvPr>
          <p:cNvSpPr>
            <a:spLocks noGrp="1"/>
          </p:cNvSpPr>
          <p:nvPr>
            <p:ph type="title"/>
          </p:nvPr>
        </p:nvSpPr>
        <p:spPr>
          <a:xfrm>
            <a:off x="614149" y="557938"/>
            <a:ext cx="10739651" cy="1115879"/>
          </a:xfrm>
        </p:spPr>
        <p:txBody>
          <a:bodyPr>
            <a:normAutofit/>
          </a:bodyPr>
          <a:lstStyle/>
          <a:p>
            <a:pPr lvl="0"/>
            <a:r>
              <a:rPr lang="en-US" dirty="0">
                <a:latin typeface="+mn-lt"/>
              </a:rPr>
              <a:t>System</a:t>
            </a:r>
            <a:r>
              <a:rPr lang="en-US" dirty="0"/>
              <a:t> </a:t>
            </a:r>
            <a:r>
              <a:rPr lang="en-US" dirty="0">
                <a:latin typeface="+mn-lt"/>
              </a:rPr>
              <a:t>Design</a:t>
            </a:r>
            <a:endParaRPr lang="en-IN" dirty="0">
              <a:latin typeface="+mn-lt"/>
            </a:endParaRPr>
          </a:p>
        </p:txBody>
      </p:sp>
      <p:sp>
        <p:nvSpPr>
          <p:cNvPr id="3" name="Content Placeholder 2">
            <a:extLst>
              <a:ext uri="{FF2B5EF4-FFF2-40B4-BE49-F238E27FC236}">
                <a16:creationId xmlns:a16="http://schemas.microsoft.com/office/drawing/2014/main" id="{70C93037-DF15-4807-A746-877CE0DF703A}"/>
              </a:ext>
            </a:extLst>
          </p:cNvPr>
          <p:cNvSpPr>
            <a:spLocks noGrp="1"/>
          </p:cNvSpPr>
          <p:nvPr>
            <p:ph idx="1"/>
          </p:nvPr>
        </p:nvSpPr>
        <p:spPr>
          <a:xfrm>
            <a:off x="838200" y="1797803"/>
            <a:ext cx="10515600" cy="4379160"/>
          </a:xfrm>
        </p:spPr>
        <p:txBody>
          <a:bodyPr/>
          <a:lstStyle/>
          <a:p>
            <a:pPr>
              <a:lnSpc>
                <a:spcPct val="100000"/>
              </a:lnSpc>
            </a:pPr>
            <a:r>
              <a:rPr lang="en-US" sz="2400" dirty="0"/>
              <a:t>Divide the data into equal-sized buckets and assign them to nodes before sorting.</a:t>
            </a:r>
          </a:p>
          <a:p>
            <a:pPr>
              <a:lnSpc>
                <a:spcPct val="100000"/>
              </a:lnSpc>
            </a:pPr>
            <a:r>
              <a:rPr lang="en-US" sz="2400" dirty="0"/>
              <a:t>Divide the data into ranges and assign each range to a node.</a:t>
            </a:r>
          </a:p>
          <a:p>
            <a:pPr>
              <a:lnSpc>
                <a:spcPct val="100000"/>
              </a:lnSpc>
            </a:pPr>
            <a:r>
              <a:rPr lang="en-US" sz="2400" dirty="0"/>
              <a:t>Dynamically adjust the workload of each node during the sorting process to ensure optimal utilization.</a:t>
            </a:r>
          </a:p>
          <a:p>
            <a:pPr>
              <a:lnSpc>
                <a:spcPct val="100000"/>
              </a:lnSpc>
            </a:pPr>
            <a:r>
              <a:rPr lang="en-US" sz="2400" dirty="0"/>
              <a:t>All nodes sort their buckets simultaneously and nodes sort their buckets independently, and the system combines the sorted data.</a:t>
            </a:r>
          </a:p>
          <a:p>
            <a:pPr>
              <a:lnSpc>
                <a:spcPct val="100000"/>
              </a:lnSpc>
            </a:pPr>
            <a:r>
              <a:rPr lang="en-US" sz="2400" dirty="0"/>
              <a:t>Collect sorted data from each node at a central location .</a:t>
            </a:r>
          </a:p>
          <a:p>
            <a:pPr>
              <a:lnSpc>
                <a:spcPct val="100000"/>
              </a:lnSpc>
            </a:pPr>
            <a:r>
              <a:rPr lang="en-US" sz="2400" dirty="0"/>
              <a:t>Combine sorted data from nodes in a distributed manner.</a:t>
            </a:r>
          </a:p>
          <a:p>
            <a:endParaRPr lang="en-US" dirty="0"/>
          </a:p>
        </p:txBody>
      </p:sp>
      <p:sp>
        <p:nvSpPr>
          <p:cNvPr id="4" name="Footer Placeholder 3">
            <a:extLst>
              <a:ext uri="{FF2B5EF4-FFF2-40B4-BE49-F238E27FC236}">
                <a16:creationId xmlns:a16="http://schemas.microsoft.com/office/drawing/2014/main" id="{9967CC8A-AC72-4967-A1C8-DA71A7A08EA9}"/>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2887956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B4C7-714A-490E-9AB5-7D0F65413297}"/>
              </a:ext>
            </a:extLst>
          </p:cNvPr>
          <p:cNvSpPr>
            <a:spLocks noGrp="1"/>
          </p:cNvSpPr>
          <p:nvPr>
            <p:ph type="title"/>
          </p:nvPr>
        </p:nvSpPr>
        <p:spPr>
          <a:xfrm>
            <a:off x="732998" y="719049"/>
            <a:ext cx="10726003" cy="740344"/>
          </a:xfrm>
        </p:spPr>
        <p:txBody>
          <a:bodyPr>
            <a:normAutofit/>
          </a:bodyPr>
          <a:lstStyle/>
          <a:p>
            <a:r>
              <a:rPr lang="en-IN" dirty="0">
                <a:latin typeface="+mn-lt"/>
              </a:rPr>
              <a:t>Implementation</a:t>
            </a:r>
            <a:endParaRPr lang="en-US" dirty="0">
              <a:latin typeface="+mn-lt"/>
            </a:endParaRPr>
          </a:p>
        </p:txBody>
      </p:sp>
      <p:sp>
        <p:nvSpPr>
          <p:cNvPr id="3" name="Content Placeholder 2">
            <a:extLst>
              <a:ext uri="{FF2B5EF4-FFF2-40B4-BE49-F238E27FC236}">
                <a16:creationId xmlns:a16="http://schemas.microsoft.com/office/drawing/2014/main" id="{D094F74C-AE1B-4E6A-9DF7-FF842354238D}"/>
              </a:ext>
            </a:extLst>
          </p:cNvPr>
          <p:cNvSpPr>
            <a:spLocks noGrp="1"/>
          </p:cNvSpPr>
          <p:nvPr>
            <p:ph idx="1"/>
          </p:nvPr>
        </p:nvSpPr>
        <p:spPr>
          <a:xfrm>
            <a:off x="844773" y="2324746"/>
            <a:ext cx="10726003" cy="3041242"/>
          </a:xfrm>
        </p:spPr>
        <p:txBody>
          <a:bodyPr>
            <a:normAutofit fontScale="32500" lnSpcReduction="20000"/>
          </a:bodyPr>
          <a:lstStyle/>
          <a:p>
            <a:pPr marL="0" indent="0">
              <a:lnSpc>
                <a:spcPct val="120000"/>
              </a:lnSpc>
              <a:buNone/>
            </a:pPr>
            <a:r>
              <a:rPr lang="en-US" sz="6000" b="1" dirty="0">
                <a:latin typeface="Times New Roman" panose="02020603050405020304" pitchFamily="18" charset="0"/>
                <a:cs typeface="Times New Roman" panose="02020603050405020304" pitchFamily="18" charset="0"/>
              </a:rPr>
              <a:t>Step 1: Data Distribution</a:t>
            </a:r>
          </a:p>
          <a:p>
            <a:pPr algn="just">
              <a:lnSpc>
                <a:spcPct val="120000"/>
              </a:lnSpc>
            </a:pPr>
            <a:r>
              <a:rPr lang="en-US" sz="6000" b="1" dirty="0">
                <a:latin typeface="Times New Roman" panose="02020603050405020304" pitchFamily="18" charset="0"/>
                <a:cs typeface="Times New Roman" panose="02020603050405020304" pitchFamily="18" charset="0"/>
              </a:rPr>
              <a:t>Divide Input Data : </a:t>
            </a:r>
            <a:r>
              <a:rPr lang="en-US" sz="6000" dirty="0">
                <a:latin typeface="Times New Roman" panose="02020603050405020304" pitchFamily="18" charset="0"/>
                <a:cs typeface="Times New Roman" panose="02020603050405020304" pitchFamily="18" charset="0"/>
              </a:rPr>
              <a:t>Divide the input data into buckets based on the range of values.</a:t>
            </a:r>
          </a:p>
          <a:p>
            <a:pPr algn="just">
              <a:lnSpc>
                <a:spcPct val="120000"/>
              </a:lnSpc>
            </a:pPr>
            <a:r>
              <a:rPr lang="en-US" sz="6000" b="1" dirty="0">
                <a:latin typeface="Times New Roman" panose="02020603050405020304" pitchFamily="18" charset="0"/>
                <a:cs typeface="Times New Roman" panose="02020603050405020304" pitchFamily="18" charset="0"/>
              </a:rPr>
              <a:t>Assign Buckets to Nodes : </a:t>
            </a:r>
            <a:r>
              <a:rPr lang="en-US" sz="6000" dirty="0">
                <a:latin typeface="Times New Roman" panose="02020603050405020304" pitchFamily="18" charset="0"/>
                <a:cs typeface="Times New Roman" panose="02020603050405020304" pitchFamily="18" charset="0"/>
              </a:rPr>
              <a:t>Assign each bucket to a node in the OCCT network.</a:t>
            </a:r>
          </a:p>
          <a:p>
            <a:pPr algn="just">
              <a:lnSpc>
                <a:spcPct val="120000"/>
              </a:lnSpc>
            </a:pPr>
            <a:r>
              <a:rPr lang="en-US" sz="6000" b="1" dirty="0">
                <a:latin typeface="Times New Roman" panose="02020603050405020304" pitchFamily="18" charset="0"/>
                <a:cs typeface="Times New Roman" panose="02020603050405020304" pitchFamily="18" charset="0"/>
              </a:rPr>
              <a:t> Node Index 	Calculation: </a:t>
            </a:r>
            <a:r>
              <a:rPr lang="en-US" sz="6000" dirty="0">
                <a:latin typeface="Times New Roman" panose="02020603050405020304" pitchFamily="18" charset="0"/>
                <a:cs typeface="Times New Roman" panose="02020603050405020304" pitchFamily="18" charset="0"/>
              </a:rPr>
              <a:t>Calculate the node index for each data point using the formula node_index = int((value - min_val) / </a:t>
            </a:r>
            <a:r>
              <a:rPr lang="en-US" sz="6000" dirty="0" err="1">
                <a:latin typeface="Times New Roman" panose="02020603050405020304" pitchFamily="18" charset="0"/>
                <a:cs typeface="Times New Roman" panose="02020603050405020304" pitchFamily="18" charset="0"/>
              </a:rPr>
              <a:t>range_size</a:t>
            </a:r>
            <a:r>
              <a:rPr lang="en-US" sz="6000" dirty="0">
                <a:latin typeface="Times New Roman" panose="02020603050405020304" pitchFamily="18" charset="0"/>
                <a:cs typeface="Times New Roman" panose="02020603050405020304" pitchFamily="18" charset="0"/>
              </a:rPr>
              <a:t>).</a:t>
            </a:r>
          </a:p>
          <a:p>
            <a:pPr marL="0" indent="0" algn="just">
              <a:lnSpc>
                <a:spcPct val="150000"/>
              </a:lnSpc>
              <a:buNone/>
            </a:pPr>
            <a:br>
              <a:rPr lang="en-US" sz="4200" b="0" dirty="0">
                <a:latin typeface="+mn-lt"/>
              </a:rPr>
            </a:br>
            <a:endParaRPr lang="en-US" sz="4200" dirty="0"/>
          </a:p>
          <a:p>
            <a:pPr marL="0" indent="0" algn="just">
              <a:buNone/>
            </a:pPr>
            <a:endParaRPr lang="en-US" sz="2400" dirty="0"/>
          </a:p>
        </p:txBody>
      </p:sp>
      <p:sp>
        <p:nvSpPr>
          <p:cNvPr id="4" name="Footer Placeholder 3">
            <a:extLst>
              <a:ext uri="{FF2B5EF4-FFF2-40B4-BE49-F238E27FC236}">
                <a16:creationId xmlns:a16="http://schemas.microsoft.com/office/drawing/2014/main" id="{2DAC0EB5-C295-4C77-AC52-CA3BC0EDC584}"/>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1085425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483D0E-38DE-2206-CCC6-0103BDA75AF1}"/>
              </a:ext>
            </a:extLst>
          </p:cNvPr>
          <p:cNvSpPr>
            <a:spLocks noGrp="1"/>
          </p:cNvSpPr>
          <p:nvPr>
            <p:ph idx="1"/>
          </p:nvPr>
        </p:nvSpPr>
        <p:spPr>
          <a:xfrm>
            <a:off x="838199" y="433953"/>
            <a:ext cx="10515600" cy="5922397"/>
          </a:xfrm>
        </p:spPr>
        <p:txBody>
          <a:bodyPr>
            <a:normAutofit/>
          </a:bodyPr>
          <a:lstStyle/>
          <a:p>
            <a:pPr marL="0" indent="0" algn="just">
              <a:buNone/>
            </a:pPr>
            <a:r>
              <a:rPr lang="en-US" sz="2400" b="1" dirty="0"/>
              <a:t>Step 2: Parallel Sorting</a:t>
            </a:r>
          </a:p>
          <a:p>
            <a:pPr algn="just">
              <a:lnSpc>
                <a:spcPct val="100000"/>
              </a:lnSpc>
            </a:pPr>
            <a:r>
              <a:rPr lang="en-US" sz="2400" b="1" dirty="0"/>
              <a:t>Multiprocessing : </a:t>
            </a:r>
            <a:r>
              <a:rPr lang="en-US" sz="2400" dirty="0"/>
              <a:t>Use multiprocessing to sort each bucket in parallel. </a:t>
            </a:r>
          </a:p>
          <a:p>
            <a:pPr algn="just">
              <a:lnSpc>
                <a:spcPct val="100000"/>
              </a:lnSpc>
            </a:pPr>
            <a:r>
              <a:rPr lang="en-US" sz="2400" b="1" dirty="0"/>
              <a:t>Node-Level Sorting : </a:t>
            </a:r>
            <a:r>
              <a:rPr lang="en-US" sz="2400" dirty="0"/>
              <a:t>Each node sorts its assigned bucket independently using the </a:t>
            </a:r>
            <a:r>
              <a:rPr lang="en-US" sz="2400" dirty="0" err="1"/>
              <a:t>sort_bucket</a:t>
            </a:r>
            <a:r>
              <a:rPr lang="en-US" sz="2400" dirty="0"/>
              <a:t> method. </a:t>
            </a:r>
          </a:p>
          <a:p>
            <a:pPr algn="just">
              <a:lnSpc>
                <a:spcPct val="100000"/>
              </a:lnSpc>
            </a:pPr>
            <a:r>
              <a:rPr lang="en-US" sz="2400" b="1" dirty="0"/>
              <a:t>Parallel Processing : </a:t>
            </a:r>
            <a:r>
              <a:rPr lang="en-US" sz="2400" dirty="0"/>
              <a:t>The </a:t>
            </a:r>
            <a:r>
              <a:rPr lang="en-US" sz="2400" dirty="0" err="1"/>
              <a:t>parallel_sort</a:t>
            </a:r>
            <a:r>
              <a:rPr lang="en-US" sz="2400" dirty="0"/>
              <a:t> method creates a separate process for each node to sort its bucket.</a:t>
            </a:r>
          </a:p>
          <a:p>
            <a:pPr marL="0" indent="0">
              <a:lnSpc>
                <a:spcPct val="100000"/>
              </a:lnSpc>
              <a:buNone/>
            </a:pPr>
            <a:r>
              <a:rPr lang="en-US" sz="2400" b="1" dirty="0">
                <a:latin typeface="+mn-lt"/>
              </a:rPr>
              <a:t> Step 3 : Sorted Data Retrieval</a:t>
            </a:r>
          </a:p>
          <a:p>
            <a:pPr>
              <a:lnSpc>
                <a:spcPct val="100000"/>
              </a:lnSpc>
            </a:pPr>
            <a:r>
              <a:rPr lang="en-US" sz="2400" b="1" dirty="0">
                <a:latin typeface="+mn-lt"/>
              </a:rPr>
              <a:t>Retrieve Sorted Data : </a:t>
            </a:r>
            <a:r>
              <a:rPr lang="en-US" sz="2400" b="0" dirty="0">
                <a:latin typeface="+mn-lt"/>
              </a:rPr>
              <a:t>Retrieve the sorted data from each node.</a:t>
            </a:r>
          </a:p>
          <a:p>
            <a:pPr>
              <a:lnSpc>
                <a:spcPct val="100000"/>
              </a:lnSpc>
            </a:pPr>
            <a:r>
              <a:rPr lang="en-US" sz="2400" b="1" dirty="0">
                <a:latin typeface="+mn-lt"/>
              </a:rPr>
              <a:t>Combine Sorted Data: </a:t>
            </a:r>
            <a:r>
              <a:rPr lang="en-US" sz="2400" b="0" dirty="0">
                <a:latin typeface="+mn-lt"/>
              </a:rPr>
              <a:t>Combine the sorted data from each node into a single sorted list using the </a:t>
            </a:r>
            <a:r>
              <a:rPr lang="en-US" sz="2400" b="0" dirty="0" err="1">
                <a:latin typeface="+mn-lt"/>
              </a:rPr>
              <a:t>get_sorted_data</a:t>
            </a:r>
            <a:r>
              <a:rPr lang="en-US" sz="2400" b="0" dirty="0">
                <a:latin typeface="+mn-lt"/>
              </a:rPr>
              <a:t> method.</a:t>
            </a:r>
          </a:p>
          <a:p>
            <a:pPr>
              <a:lnSpc>
                <a:spcPct val="100000"/>
              </a:lnSpc>
            </a:pPr>
            <a:r>
              <a:rPr lang="en-US" sz="2400" b="1" dirty="0">
                <a:latin typeface="+mn-lt"/>
              </a:rPr>
              <a:t>Final Sorting: </a:t>
            </a:r>
            <a:r>
              <a:rPr lang="en-US" sz="2400" b="0" dirty="0">
                <a:latin typeface="+mn-lt"/>
              </a:rPr>
              <a:t>The final sorted list is obtained by sorting the combined data from all nodes.</a:t>
            </a:r>
            <a:br>
              <a:rPr lang="en-US" sz="2400" b="0" dirty="0">
                <a:latin typeface="+mn-lt"/>
              </a:rPr>
            </a:br>
            <a:endParaRPr lang="en-US" sz="2400" b="0" dirty="0">
              <a:latin typeface="+mn-lt"/>
            </a:endParaRPr>
          </a:p>
          <a:p>
            <a:pPr algn="just">
              <a:lnSpc>
                <a:spcPct val="100000"/>
              </a:lnSpc>
            </a:pPr>
            <a:endParaRPr lang="en-US" sz="2400" dirty="0">
              <a:latin typeface="+mn-lt"/>
            </a:endParaRPr>
          </a:p>
          <a:p>
            <a:pPr algn="just">
              <a:lnSpc>
                <a:spcPct val="100000"/>
              </a:lnSpc>
            </a:pPr>
            <a:endParaRPr lang="en-US" sz="2400" dirty="0"/>
          </a:p>
          <a:p>
            <a:pPr algn="just">
              <a:lnSpc>
                <a:spcPct val="100000"/>
              </a:lnSpc>
            </a:pPr>
            <a:endParaRPr lang="en-US" sz="2400" dirty="0"/>
          </a:p>
          <a:p>
            <a:pPr algn="just">
              <a:lnSpc>
                <a:spcPct val="100000"/>
              </a:lnSpc>
            </a:pPr>
            <a:endParaRPr lang="en-US" sz="2400" dirty="0"/>
          </a:p>
          <a:p>
            <a:pPr algn="just">
              <a:lnSpc>
                <a:spcPct val="100000"/>
              </a:lnSpc>
            </a:pPr>
            <a:endParaRPr lang="en-US" sz="2400" dirty="0"/>
          </a:p>
          <a:p>
            <a:pPr algn="just">
              <a:lnSpc>
                <a:spcPct val="100000"/>
              </a:lnSpc>
            </a:pPr>
            <a:endParaRPr lang="en-US" sz="2400" dirty="0"/>
          </a:p>
          <a:p>
            <a:pPr algn="just">
              <a:lnSpc>
                <a:spcPct val="100000"/>
              </a:lnSpc>
            </a:pPr>
            <a:endParaRPr lang="en-US" sz="2400" dirty="0"/>
          </a:p>
          <a:p>
            <a:pPr marL="0" indent="0" algn="just">
              <a:lnSpc>
                <a:spcPct val="100000"/>
              </a:lnSpc>
              <a:buNone/>
            </a:pPr>
            <a:endParaRPr lang="en-US" sz="2400" dirty="0"/>
          </a:p>
          <a:p>
            <a:pPr algn="just">
              <a:lnSpc>
                <a:spcPct val="100000"/>
              </a:lnSpc>
            </a:pPr>
            <a:endParaRPr lang="en-US" sz="2400" dirty="0"/>
          </a:p>
          <a:p>
            <a:pPr marL="0" indent="0" algn="just">
              <a:lnSpc>
                <a:spcPct val="100000"/>
              </a:lnSpc>
              <a:buNone/>
            </a:pPr>
            <a:endParaRPr lang="en-IN" sz="2400" dirty="0"/>
          </a:p>
          <a:p>
            <a:endParaRPr lang="en-IN" dirty="0"/>
          </a:p>
        </p:txBody>
      </p:sp>
      <p:sp>
        <p:nvSpPr>
          <p:cNvPr id="4" name="Footer Placeholder 3">
            <a:extLst>
              <a:ext uri="{FF2B5EF4-FFF2-40B4-BE49-F238E27FC236}">
                <a16:creationId xmlns:a16="http://schemas.microsoft.com/office/drawing/2014/main" id="{22DDCEB2-0C2E-FC6A-C05A-1CF7C406C29E}"/>
              </a:ext>
            </a:extLst>
          </p:cNvPr>
          <p:cNvSpPr>
            <a:spLocks noGrp="1"/>
          </p:cNvSpPr>
          <p:nvPr>
            <p:ph type="ftr" sz="quarter" idx="11"/>
          </p:nvPr>
        </p:nvSpPr>
        <p:spPr/>
        <p:txBody>
          <a:bodyPr/>
          <a:lstStyle/>
          <a:p>
            <a:r>
              <a:rPr lang="en-US"/>
              <a:t>BCA  VI Semester - BCAPRON601 - Mini Project</a:t>
            </a:r>
          </a:p>
        </p:txBody>
      </p:sp>
      <p:sp>
        <p:nvSpPr>
          <p:cNvPr id="8" name="Title 7">
            <a:extLst>
              <a:ext uri="{FF2B5EF4-FFF2-40B4-BE49-F238E27FC236}">
                <a16:creationId xmlns:a16="http://schemas.microsoft.com/office/drawing/2014/main" id="{29CDAE5B-A483-564A-6401-627BAF6168BA}"/>
              </a:ext>
            </a:extLst>
          </p:cNvPr>
          <p:cNvSpPr>
            <a:spLocks noGrp="1"/>
          </p:cNvSpPr>
          <p:nvPr>
            <p:ph type="title"/>
          </p:nvPr>
        </p:nvSpPr>
        <p:spPr>
          <a:xfrm>
            <a:off x="838199" y="136525"/>
            <a:ext cx="10267628" cy="6219825"/>
          </a:xfrm>
        </p:spPr>
        <p:txBody>
          <a:bodyPr>
            <a:normAutofit/>
          </a:bodyPr>
          <a:lstStyle/>
          <a:p>
            <a:pPr>
              <a:lnSpc>
                <a:spcPct val="100000"/>
              </a:lnSpc>
            </a:pPr>
            <a:endParaRPr lang="en-IN" sz="2400" b="0" dirty="0">
              <a:latin typeface="+mn-lt"/>
            </a:endParaRPr>
          </a:p>
        </p:txBody>
      </p:sp>
    </p:spTree>
    <p:extLst>
      <p:ext uri="{BB962C8B-B14F-4D97-AF65-F5344CB8AC3E}">
        <p14:creationId xmlns:p14="http://schemas.microsoft.com/office/powerpoint/2010/main" val="806058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33F73-AAF3-0873-2D4A-C2D251F1B1E8}"/>
              </a:ext>
            </a:extLst>
          </p:cNvPr>
          <p:cNvSpPr>
            <a:spLocks noGrp="1"/>
          </p:cNvSpPr>
          <p:nvPr>
            <p:ph type="title"/>
          </p:nvPr>
        </p:nvSpPr>
        <p:spPr>
          <a:xfrm>
            <a:off x="838200" y="365126"/>
            <a:ext cx="10515600" cy="365126"/>
          </a:xfrm>
        </p:spPr>
        <p:txBody>
          <a:bodyPr>
            <a:normAutofit fontScale="90000"/>
          </a:bodyPr>
          <a:lstStyle/>
          <a:p>
            <a:r>
              <a:rPr lang="en-US" dirty="0"/>
              <a:t>Flow Chart</a:t>
            </a:r>
            <a:endParaRPr lang="en-IN" dirty="0"/>
          </a:p>
        </p:txBody>
      </p:sp>
      <p:sp>
        <p:nvSpPr>
          <p:cNvPr id="4" name="Footer Placeholder 3">
            <a:extLst>
              <a:ext uri="{FF2B5EF4-FFF2-40B4-BE49-F238E27FC236}">
                <a16:creationId xmlns:a16="http://schemas.microsoft.com/office/drawing/2014/main" id="{59565826-CEB8-6987-136C-EE7D207DA0EC}"/>
              </a:ext>
            </a:extLst>
          </p:cNvPr>
          <p:cNvSpPr>
            <a:spLocks noGrp="1"/>
          </p:cNvSpPr>
          <p:nvPr>
            <p:ph type="ftr" sz="quarter" idx="11"/>
          </p:nvPr>
        </p:nvSpPr>
        <p:spPr/>
        <p:txBody>
          <a:bodyPr/>
          <a:lstStyle/>
          <a:p>
            <a:r>
              <a:rPr lang="en-US"/>
              <a:t>BCA  VI Semester - BCAPRON601 - Mini Project</a:t>
            </a:r>
          </a:p>
        </p:txBody>
      </p:sp>
      <p:pic>
        <p:nvPicPr>
          <p:cNvPr id="5" name="Content Placeholder 4">
            <a:extLst>
              <a:ext uri="{FF2B5EF4-FFF2-40B4-BE49-F238E27FC236}">
                <a16:creationId xmlns:a16="http://schemas.microsoft.com/office/drawing/2014/main" id="{C06A4553-BF14-78F2-06A9-DB7AFE68312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89120" y="136525"/>
            <a:ext cx="4318000" cy="6219825"/>
          </a:xfrm>
          <a:prstGeom prst="rect">
            <a:avLst/>
          </a:prstGeom>
          <a:noFill/>
          <a:ln>
            <a:solidFill>
              <a:schemeClr val="tx1"/>
            </a:solidFill>
          </a:ln>
        </p:spPr>
      </p:pic>
    </p:spTree>
    <p:extLst>
      <p:ext uri="{BB962C8B-B14F-4D97-AF65-F5344CB8AC3E}">
        <p14:creationId xmlns:p14="http://schemas.microsoft.com/office/powerpoint/2010/main" val="796005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D86D8-B871-4F0D-A187-08083190E99D}"/>
              </a:ext>
            </a:extLst>
          </p:cNvPr>
          <p:cNvSpPr>
            <a:spLocks noGrp="1"/>
          </p:cNvSpPr>
          <p:nvPr>
            <p:ph type="title"/>
          </p:nvPr>
        </p:nvSpPr>
        <p:spPr>
          <a:xfrm>
            <a:off x="838200" y="136525"/>
            <a:ext cx="10515600" cy="983227"/>
          </a:xfrm>
        </p:spPr>
        <p:txBody>
          <a:bodyPr/>
          <a:lstStyle/>
          <a:p>
            <a:pPr lvl="0"/>
            <a:r>
              <a:rPr lang="en-US" sz="4000" dirty="0">
                <a:latin typeface="+mn-lt"/>
              </a:rPr>
              <a:t>Analysis</a:t>
            </a:r>
            <a:endParaRPr lang="en-IN" sz="4000" dirty="0">
              <a:latin typeface="+mn-lt"/>
            </a:endParaRPr>
          </a:p>
        </p:txBody>
      </p:sp>
      <p:sp>
        <p:nvSpPr>
          <p:cNvPr id="3" name="Content Placeholder 2">
            <a:extLst>
              <a:ext uri="{FF2B5EF4-FFF2-40B4-BE49-F238E27FC236}">
                <a16:creationId xmlns:a16="http://schemas.microsoft.com/office/drawing/2014/main" id="{6092D6A4-B5B2-40DD-89A5-0F6613B0A0A5}"/>
              </a:ext>
            </a:extLst>
          </p:cNvPr>
          <p:cNvSpPr>
            <a:spLocks noGrp="1"/>
          </p:cNvSpPr>
          <p:nvPr>
            <p:ph idx="1"/>
          </p:nvPr>
        </p:nvSpPr>
        <p:spPr>
          <a:xfrm>
            <a:off x="838200" y="1348353"/>
            <a:ext cx="10515600" cy="5144521"/>
          </a:xfrm>
        </p:spPr>
        <p:txBody>
          <a:bodyPr>
            <a:noAutofit/>
          </a:bodyPr>
          <a:lstStyle/>
          <a:p>
            <a:pPr>
              <a:lnSpc>
                <a:spcPct val="150000"/>
              </a:lnSpc>
            </a:pPr>
            <a:r>
              <a:rPr lang="en-US" sz="2400" dirty="0"/>
              <a:t> </a:t>
            </a:r>
            <a:r>
              <a:rPr lang="en-US" sz="2400" dirty="0">
                <a:latin typeface="Times New Roman" panose="02020603050405020304" pitchFamily="18" charset="0"/>
                <a:cs typeface="Times New Roman" panose="02020603050405020304" pitchFamily="18" charset="0"/>
              </a:rPr>
              <a:t>The code implements a parallel bucket sort algorithm using multiprocessing, where each node sorts its assigned bucket in parallel.</a:t>
            </a:r>
          </a:p>
          <a:p>
            <a:pPr>
              <a:lnSpc>
                <a:spcPct val="150000"/>
              </a:lnSpc>
            </a:pPr>
            <a:r>
              <a:rPr lang="en-US" sz="2400" dirty="0">
                <a:latin typeface="Times New Roman" panose="02020603050405020304" pitchFamily="18" charset="0"/>
                <a:cs typeface="Times New Roman" panose="02020603050405020304" pitchFamily="18" charset="0"/>
              </a:rPr>
              <a:t> The simulate_occt_network function simulates data distribution across nodes in an OCCT network, assigning each node a bucket of data to sort.</a:t>
            </a:r>
          </a:p>
          <a:p>
            <a:pPr>
              <a:lnSpc>
                <a:spcPct val="150000"/>
              </a:lnSpc>
            </a:pPr>
            <a:r>
              <a:rPr lang="en-US" sz="2400" dirty="0">
                <a:latin typeface="Times New Roman" panose="02020603050405020304" pitchFamily="18" charset="0"/>
                <a:cs typeface="Times New Roman" panose="02020603050405020304" pitchFamily="18" charset="0"/>
              </a:rPr>
              <a:t>The code demonstrates parallel sorting at network nodes using multiprocessing, where each node sorts its assigned bucket independently.</a:t>
            </a:r>
          </a:p>
          <a:p>
            <a:pPr>
              <a:lnSpc>
                <a:spcPct val="150000"/>
              </a:lnSpc>
            </a:pPr>
            <a:r>
              <a:rPr lang="en-US" sz="2400" dirty="0">
                <a:latin typeface="Times New Roman" panose="02020603050405020304" pitchFamily="18" charset="0"/>
                <a:cs typeface="Times New Roman" panose="02020603050405020304" pitchFamily="18" charset="0"/>
              </a:rPr>
              <a:t>The visualization provides a clear visual representation of the original data, data distribution across nodes, and the final sorted data.</a:t>
            </a:r>
          </a:p>
        </p:txBody>
      </p:sp>
      <p:sp>
        <p:nvSpPr>
          <p:cNvPr id="4" name="Footer Placeholder 3">
            <a:extLst>
              <a:ext uri="{FF2B5EF4-FFF2-40B4-BE49-F238E27FC236}">
                <a16:creationId xmlns:a16="http://schemas.microsoft.com/office/drawing/2014/main" id="{7C73EC79-5218-4D98-9AC9-0E7778BDF306}"/>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963455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D86D8-B871-4F0D-A187-08083190E99D}"/>
              </a:ext>
            </a:extLst>
          </p:cNvPr>
          <p:cNvSpPr>
            <a:spLocks noGrp="1"/>
          </p:cNvSpPr>
          <p:nvPr>
            <p:ph type="title"/>
          </p:nvPr>
        </p:nvSpPr>
        <p:spPr/>
        <p:txBody>
          <a:bodyPr/>
          <a:lstStyle/>
          <a:p>
            <a:pPr lvl="0"/>
            <a:r>
              <a:rPr lang="en-US" sz="4000" dirty="0">
                <a:latin typeface="+mn-lt"/>
              </a:rPr>
              <a:t>Evaluation</a:t>
            </a:r>
            <a:endParaRPr lang="en-IN" sz="4000" dirty="0">
              <a:latin typeface="+mn-lt"/>
            </a:endParaRPr>
          </a:p>
        </p:txBody>
      </p:sp>
      <p:sp>
        <p:nvSpPr>
          <p:cNvPr id="3" name="Content Placeholder 2">
            <a:extLst>
              <a:ext uri="{FF2B5EF4-FFF2-40B4-BE49-F238E27FC236}">
                <a16:creationId xmlns:a16="http://schemas.microsoft.com/office/drawing/2014/main" id="{6092D6A4-B5B2-40DD-89A5-0F6613B0A0A5}"/>
              </a:ext>
            </a:extLst>
          </p:cNvPr>
          <p:cNvSpPr>
            <a:spLocks noGrp="1"/>
          </p:cNvSpPr>
          <p:nvPr>
            <p:ph idx="1"/>
          </p:nvPr>
        </p:nvSpPr>
        <p:spPr>
          <a:xfrm>
            <a:off x="838200" y="1690688"/>
            <a:ext cx="10515600" cy="4486275"/>
          </a:xfrm>
        </p:spPr>
        <p:txBody>
          <a:bodyPr>
            <a:normAutofit fontScale="55000" lnSpcReduction="20000"/>
          </a:bodyPr>
          <a:lstStyle/>
          <a:p>
            <a:pPr marL="234950" marR="226060" indent="-6350" algn="just">
              <a:lnSpc>
                <a:spcPct val="111000"/>
              </a:lnSpc>
              <a:spcAft>
                <a:spcPts val="180"/>
              </a:spcAft>
              <a:buNone/>
            </a:pPr>
            <a:endParaRPr lang="en-IN" sz="1800" kern="100" dirty="0">
              <a:solidFill>
                <a:srgbClr val="000000"/>
              </a:solidFill>
              <a:effectLst/>
              <a:latin typeface="Times New Roman" panose="02020603050405020304" pitchFamily="18" charset="0"/>
              <a:ea typeface="Times New Roman" panose="02020603050405020304" pitchFamily="18" charset="0"/>
            </a:endParaRPr>
          </a:p>
          <a:p>
            <a:pPr marL="234950" marR="226060" indent="-6350" algn="just">
              <a:lnSpc>
                <a:spcPct val="120000"/>
              </a:lnSpc>
              <a:spcAft>
                <a:spcPts val="180"/>
              </a:spcAft>
              <a:buNone/>
            </a:pPr>
            <a:r>
              <a:rPr lang="en-IN" sz="3800" kern="100" dirty="0">
                <a:solidFill>
                  <a:srgbClr val="000000"/>
                </a:solidFill>
                <a:effectLst/>
                <a:latin typeface="Times New Roman" panose="02020603050405020304" pitchFamily="18" charset="0"/>
                <a:ea typeface="Times New Roman" panose="02020603050405020304" pitchFamily="18" charset="0"/>
              </a:rPr>
              <a:t>Output:</a:t>
            </a:r>
          </a:p>
          <a:p>
            <a:pPr marL="234950" marR="226060" indent="-6350" algn="just">
              <a:lnSpc>
                <a:spcPct val="120000"/>
              </a:lnSpc>
              <a:spcAft>
                <a:spcPts val="180"/>
              </a:spcAft>
              <a:buNone/>
            </a:pPr>
            <a:r>
              <a:rPr lang="en-IN" sz="3800" kern="100" dirty="0">
                <a:solidFill>
                  <a:srgbClr val="000000"/>
                </a:solidFill>
                <a:effectLst/>
                <a:latin typeface="Times New Roman" panose="02020603050405020304" pitchFamily="18" charset="0"/>
                <a:ea typeface="Times New Roman" panose="02020603050405020304" pitchFamily="18" charset="0"/>
              </a:rPr>
              <a:t>Unsorted Data: [89, 28, 47, 20, 81, 64, 2, 76, 92, 67, 65, 15, 30, 41, 61, 44, 46, 5, 69, </a:t>
            </a:r>
          </a:p>
          <a:p>
            <a:pPr marL="234950" marR="226060" indent="-6350" algn="just">
              <a:lnSpc>
                <a:spcPct val="120000"/>
              </a:lnSpc>
              <a:spcAft>
                <a:spcPts val="730"/>
              </a:spcAft>
              <a:buNone/>
            </a:pPr>
            <a:r>
              <a:rPr lang="en-IN" sz="3800" kern="100" dirty="0">
                <a:solidFill>
                  <a:srgbClr val="000000"/>
                </a:solidFill>
                <a:effectLst/>
                <a:latin typeface="Times New Roman" panose="02020603050405020304" pitchFamily="18" charset="0"/>
                <a:ea typeface="Times New Roman" panose="02020603050405020304" pitchFamily="18" charset="0"/>
              </a:rPr>
              <a:t>21, 98, 56, 94, 100, 98, 89, 78, 45, 17, 20, 40, 100, 54, 31, 83, 22, 96, 26, 30, 41] </a:t>
            </a:r>
          </a:p>
          <a:p>
            <a:pPr marL="234950" marR="1905" indent="-6350" algn="l">
              <a:lnSpc>
                <a:spcPct val="120000"/>
              </a:lnSpc>
              <a:spcAft>
                <a:spcPts val="730"/>
              </a:spcAft>
              <a:buNone/>
            </a:pPr>
            <a:r>
              <a:rPr lang="en-IN" sz="3800" kern="100" dirty="0">
                <a:solidFill>
                  <a:srgbClr val="000000"/>
                </a:solidFill>
                <a:effectLst/>
                <a:latin typeface="Times New Roman" panose="02020603050405020304" pitchFamily="18" charset="0"/>
                <a:ea typeface="Times New Roman" panose="02020603050405020304" pitchFamily="18" charset="0"/>
              </a:rPr>
              <a:t> </a:t>
            </a:r>
          </a:p>
          <a:p>
            <a:pPr marL="234950" marR="226060" indent="-6350" algn="just">
              <a:lnSpc>
                <a:spcPct val="120000"/>
              </a:lnSpc>
              <a:spcAft>
                <a:spcPts val="730"/>
              </a:spcAft>
              <a:buNone/>
            </a:pPr>
            <a:r>
              <a:rPr lang="en-IN" sz="3800" kern="100" dirty="0">
                <a:solidFill>
                  <a:srgbClr val="000000"/>
                </a:solidFill>
                <a:effectLst/>
                <a:latin typeface="Times New Roman" panose="02020603050405020304" pitchFamily="18" charset="0"/>
                <a:ea typeface="Times New Roman" panose="02020603050405020304" pitchFamily="18" charset="0"/>
              </a:rPr>
              <a:t>--- Initializing OCCT Nodes --- </a:t>
            </a:r>
          </a:p>
          <a:p>
            <a:pPr marL="234950" marR="1905" indent="-6350" algn="l">
              <a:lnSpc>
                <a:spcPct val="120000"/>
              </a:lnSpc>
              <a:spcAft>
                <a:spcPts val="790"/>
              </a:spcAft>
              <a:buNone/>
            </a:pPr>
            <a:r>
              <a:rPr lang="en-IN" sz="3800" kern="100" dirty="0">
                <a:solidFill>
                  <a:srgbClr val="000000"/>
                </a:solidFill>
                <a:effectLst/>
                <a:latin typeface="Times New Roman" panose="02020603050405020304" pitchFamily="18" charset="0"/>
                <a:ea typeface="Times New Roman" panose="02020603050405020304" pitchFamily="18" charset="0"/>
              </a:rPr>
              <a:t> </a:t>
            </a:r>
          </a:p>
          <a:p>
            <a:pPr marL="234950" marR="226060" indent="-6350" algn="just">
              <a:lnSpc>
                <a:spcPct val="120000"/>
              </a:lnSpc>
              <a:spcAft>
                <a:spcPts val="180"/>
              </a:spcAft>
              <a:buNone/>
            </a:pPr>
            <a:r>
              <a:rPr lang="en-IN" sz="3800" kern="100" dirty="0">
                <a:solidFill>
                  <a:srgbClr val="000000"/>
                </a:solidFill>
                <a:effectLst/>
                <a:latin typeface="Times New Roman" panose="02020603050405020304" pitchFamily="18" charset="0"/>
                <a:ea typeface="Times New Roman" panose="02020603050405020304" pitchFamily="18" charset="0"/>
              </a:rPr>
              <a:t>Sorted Data: [2, 5, 15, 17, 20, 20, 21, 22, 26, 28, 30, 30, 31, 40, 41, 41, 44, 45, 46, 47, </a:t>
            </a:r>
          </a:p>
          <a:p>
            <a:pPr marL="234950" marR="226060" indent="-6350" algn="just">
              <a:lnSpc>
                <a:spcPct val="120000"/>
              </a:lnSpc>
              <a:spcAft>
                <a:spcPts val="730"/>
              </a:spcAft>
            </a:pPr>
            <a:r>
              <a:rPr lang="en-IN" sz="3800" kern="100" dirty="0">
                <a:solidFill>
                  <a:srgbClr val="000000"/>
                </a:solidFill>
                <a:effectLst/>
                <a:latin typeface="Times New Roman" panose="02020603050405020304" pitchFamily="18" charset="0"/>
                <a:ea typeface="Times New Roman" panose="02020603050405020304" pitchFamily="18" charset="0"/>
              </a:rPr>
              <a:t>54, 56, 61, 64, 65, 67, 69, 76, 78, 81, 83, 89, 89, 92, 94, 96, 98, 98, 100, 100] </a:t>
            </a:r>
          </a:p>
        </p:txBody>
      </p:sp>
      <p:sp>
        <p:nvSpPr>
          <p:cNvPr id="4" name="Footer Placeholder 3">
            <a:extLst>
              <a:ext uri="{FF2B5EF4-FFF2-40B4-BE49-F238E27FC236}">
                <a16:creationId xmlns:a16="http://schemas.microsoft.com/office/drawing/2014/main" id="{7C73EC79-5218-4D98-9AC9-0E7778BDF306}"/>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3544269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3582FD9-D2DE-BD15-D886-7CC5C255AAD0}"/>
              </a:ext>
            </a:extLst>
          </p:cNvPr>
          <p:cNvSpPr>
            <a:spLocks noGrp="1"/>
          </p:cNvSpPr>
          <p:nvPr>
            <p:ph type="ftr" sz="quarter" idx="11"/>
          </p:nvPr>
        </p:nvSpPr>
        <p:spPr/>
        <p:txBody>
          <a:bodyPr/>
          <a:lstStyle/>
          <a:p>
            <a:r>
              <a:rPr lang="en-US"/>
              <a:t>BCA  VI Semester - BCAPRON601 - Mini Project</a:t>
            </a:r>
          </a:p>
        </p:txBody>
      </p:sp>
      <p:pic>
        <p:nvPicPr>
          <p:cNvPr id="8" name="Content Placeholder 7">
            <a:extLst>
              <a:ext uri="{FF2B5EF4-FFF2-40B4-BE49-F238E27FC236}">
                <a16:creationId xmlns:a16="http://schemas.microsoft.com/office/drawing/2014/main" id="{A708E532-4516-4160-3021-C64EE7714CD5}"/>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147320" y="335280"/>
            <a:ext cx="11897360" cy="6021070"/>
          </a:xfrm>
        </p:spPr>
      </p:pic>
    </p:spTree>
    <p:extLst>
      <p:ext uri="{BB962C8B-B14F-4D97-AF65-F5344CB8AC3E}">
        <p14:creationId xmlns:p14="http://schemas.microsoft.com/office/powerpoint/2010/main" val="3622203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71E67F-D117-91AA-3E62-5571DBD3EDEE}"/>
              </a:ext>
            </a:extLst>
          </p:cNvPr>
          <p:cNvSpPr>
            <a:spLocks noGrp="1"/>
          </p:cNvSpPr>
          <p:nvPr>
            <p:ph type="title"/>
          </p:nvPr>
        </p:nvSpPr>
        <p:spPr/>
        <p:txBody>
          <a:bodyPr/>
          <a:lstStyle/>
          <a:p>
            <a:r>
              <a:rPr lang="en-IN" sz="3600" b="1" kern="100" dirty="0">
                <a:solidFill>
                  <a:srgbClr val="000000"/>
                </a:solidFill>
                <a:effectLst/>
                <a:latin typeface="Calibri" panose="020F0502020204030204" pitchFamily="34" charset="0"/>
                <a:ea typeface="Calibri" panose="020F0502020204030204" pitchFamily="34" charset="0"/>
              </a:rPr>
              <a:t>Top Subplot: Original Unsorted Data</a:t>
            </a:r>
            <a:br>
              <a:rPr lang="en-IN" sz="4400" kern="100" dirty="0">
                <a:solidFill>
                  <a:srgbClr val="000000"/>
                </a:solidFill>
                <a:effectLst/>
                <a:latin typeface="Times New Roman" panose="02020603050405020304" pitchFamily="18" charset="0"/>
                <a:ea typeface="Times New Roman" panose="02020603050405020304" pitchFamily="18" charset="0"/>
              </a:rPr>
            </a:br>
            <a:endParaRPr lang="en-IN" dirty="0"/>
          </a:p>
        </p:txBody>
      </p:sp>
      <p:sp>
        <p:nvSpPr>
          <p:cNvPr id="6" name="Content Placeholder 5">
            <a:extLst>
              <a:ext uri="{FF2B5EF4-FFF2-40B4-BE49-F238E27FC236}">
                <a16:creationId xmlns:a16="http://schemas.microsoft.com/office/drawing/2014/main" id="{3923F35E-D2FA-3DB1-ACD0-1C35181A7DD0}"/>
              </a:ext>
            </a:extLst>
          </p:cNvPr>
          <p:cNvSpPr>
            <a:spLocks noGrp="1"/>
          </p:cNvSpPr>
          <p:nvPr>
            <p:ph idx="1"/>
          </p:nvPr>
        </p:nvSpPr>
        <p:spPr/>
        <p:txBody>
          <a:bodyPr/>
          <a:lstStyle/>
          <a:p>
            <a:pPr marR="226060" algn="just" fontAlgn="base">
              <a:lnSpc>
                <a:spcPct val="111000"/>
              </a:lnSpc>
              <a:spcAft>
                <a:spcPts val="985"/>
              </a:spcAft>
              <a:buClr>
                <a:srgbClr val="000000"/>
              </a:buClr>
              <a:buSzPts val="1000"/>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This is a bar chart showing the initial state of the data. </a:t>
            </a:r>
          </a:p>
          <a:p>
            <a:pPr marR="226060" algn="just" fontAlgn="base">
              <a:lnSpc>
                <a:spcPct val="111000"/>
              </a:lnSpc>
              <a:spcAft>
                <a:spcPts val="975"/>
              </a:spcAft>
              <a:buClr>
                <a:srgbClr val="000000"/>
              </a:buClr>
              <a:buSzPts val="1000"/>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The x-axis represents the index of each data point (from 0 to around 40). </a:t>
            </a:r>
          </a:p>
          <a:p>
            <a:pPr marR="226060" algn="just" fontAlgn="base">
              <a:lnSpc>
                <a:spcPct val="111000"/>
              </a:lnSpc>
              <a:spcAft>
                <a:spcPts val="730"/>
              </a:spcAft>
              <a:buClr>
                <a:srgbClr val="000000"/>
              </a:buClr>
              <a:buSzPts val="1000"/>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The y-axis represents the value of each data point (ranging from 0 to 100). </a:t>
            </a:r>
          </a:p>
          <a:p>
            <a:pPr marR="226060" algn="just" fontAlgn="base">
              <a:lnSpc>
                <a:spcPct val="111000"/>
              </a:lnSpc>
              <a:spcAft>
                <a:spcPts val="730"/>
              </a:spcAft>
              <a:buClr>
                <a:srgbClr val="000000"/>
              </a:buClr>
              <a:buSzPts val="1000"/>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The bars are arranged in an arbitrary order, reflecting the unsorted nature of the data. You can observe a wide range of values scattered across the indices without any apparent pattern. </a:t>
            </a:r>
          </a:p>
          <a:p>
            <a:endParaRPr lang="en-IN" dirty="0"/>
          </a:p>
        </p:txBody>
      </p:sp>
      <p:sp>
        <p:nvSpPr>
          <p:cNvPr id="2" name="Footer Placeholder 1">
            <a:extLst>
              <a:ext uri="{FF2B5EF4-FFF2-40B4-BE49-F238E27FC236}">
                <a16:creationId xmlns:a16="http://schemas.microsoft.com/office/drawing/2014/main" id="{287C66DF-C059-D4D8-C06C-5F1862210C2E}"/>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225880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2C48CE-51B8-B31F-6D92-9E2281EC1D2C}"/>
              </a:ext>
            </a:extLst>
          </p:cNvPr>
          <p:cNvSpPr>
            <a:spLocks noGrp="1"/>
          </p:cNvSpPr>
          <p:nvPr>
            <p:ph type="title"/>
          </p:nvPr>
        </p:nvSpPr>
        <p:spPr/>
        <p:txBody>
          <a:bodyPr>
            <a:noAutofit/>
          </a:bodyPr>
          <a:lstStyle/>
          <a:p>
            <a:r>
              <a:rPr lang="en-IN" sz="3600" kern="100" dirty="0">
                <a:solidFill>
                  <a:srgbClr val="000000"/>
                </a:solidFill>
                <a:effectLst/>
                <a:latin typeface="+mn-lt"/>
                <a:ea typeface="Times New Roman" panose="02020603050405020304" pitchFamily="18" charset="0"/>
              </a:rPr>
              <a:t>Middle Subplot: Data Distribution Across OCCT Nodes (Buckets) </a:t>
            </a:r>
            <a:br>
              <a:rPr lang="en-IN" sz="3600" kern="100" dirty="0">
                <a:solidFill>
                  <a:srgbClr val="000000"/>
                </a:solidFill>
                <a:effectLst/>
                <a:latin typeface="Times New Roman" panose="02020603050405020304" pitchFamily="18" charset="0"/>
                <a:ea typeface="Times New Roman" panose="02020603050405020304" pitchFamily="18" charset="0"/>
              </a:rPr>
            </a:br>
            <a:endParaRPr lang="en-IN" sz="3600" dirty="0"/>
          </a:p>
        </p:txBody>
      </p:sp>
      <p:sp>
        <p:nvSpPr>
          <p:cNvPr id="5" name="Content Placeholder 4">
            <a:extLst>
              <a:ext uri="{FF2B5EF4-FFF2-40B4-BE49-F238E27FC236}">
                <a16:creationId xmlns:a16="http://schemas.microsoft.com/office/drawing/2014/main" id="{C42CEAD9-E2CE-8154-F89D-B74E79CEDD61}"/>
              </a:ext>
            </a:extLst>
          </p:cNvPr>
          <p:cNvSpPr>
            <a:spLocks noGrp="1"/>
          </p:cNvSpPr>
          <p:nvPr>
            <p:ph idx="1"/>
          </p:nvPr>
        </p:nvSpPr>
        <p:spPr/>
        <p:txBody>
          <a:bodyPr>
            <a:normAutofit/>
          </a:bodyPr>
          <a:lstStyle/>
          <a:p>
            <a:pPr marR="226060" algn="just" fontAlgn="base">
              <a:lnSpc>
                <a:spcPct val="111000"/>
              </a:lnSpc>
              <a:spcAft>
                <a:spcPts val="970"/>
              </a:spcAft>
              <a:buClr>
                <a:srgbClr val="000000"/>
              </a:buClr>
              <a:buSzPts val="1000"/>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This bar chart illustrates how the original data is distributed into five distinct "OCCT Nodes" (</a:t>
            </a:r>
            <a:r>
              <a:rPr lang="en-IN" sz="2400" u="none" strike="noStrike" kern="100" dirty="0" err="1">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labeled</a:t>
            </a: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Node 0 to Node 4). These nodes likely represent buckets or partitions created by some data partitioning or indexing mechanism. </a:t>
            </a:r>
          </a:p>
          <a:p>
            <a:pPr marR="226060" algn="just" fontAlgn="base">
              <a:lnSpc>
                <a:spcPct val="111000"/>
              </a:lnSpc>
              <a:spcAft>
                <a:spcPts val="975"/>
              </a:spcAft>
              <a:buClr>
                <a:srgbClr val="000000"/>
              </a:buClr>
              <a:buSzPts val="1000"/>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The x-axis represents the different OCCT Nodes. </a:t>
            </a:r>
          </a:p>
          <a:p>
            <a:pPr marR="226060" algn="just" fontAlgn="base">
              <a:lnSpc>
                <a:spcPct val="111000"/>
              </a:lnSpc>
              <a:spcAft>
                <a:spcPts val="730"/>
              </a:spcAft>
              <a:buClr>
                <a:srgbClr val="000000"/>
              </a:buClr>
              <a:buSzPts val="1000"/>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The y-axis represents the number of elements that fall into each node. </a:t>
            </a:r>
          </a:p>
          <a:p>
            <a:pPr marR="226060" algn="just" fontAlgn="base">
              <a:lnSpc>
                <a:spcPct val="111000"/>
              </a:lnSpc>
              <a:spcAft>
                <a:spcPts val="730"/>
              </a:spcAft>
              <a:buClr>
                <a:srgbClr val="000000"/>
              </a:buClr>
              <a:buSzPts val="1000"/>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We can see that the distribution is not perfectly even. Node 1 and Node 4 contain a larger number of elements compared to Node 0, Node 2, and Node 3. This suggests that the partitioning process resulted in buckets of varying sizes. </a:t>
            </a:r>
          </a:p>
          <a:p>
            <a:endParaRPr lang="en-IN" dirty="0"/>
          </a:p>
        </p:txBody>
      </p:sp>
      <p:sp>
        <p:nvSpPr>
          <p:cNvPr id="3" name="Footer Placeholder 2">
            <a:extLst>
              <a:ext uri="{FF2B5EF4-FFF2-40B4-BE49-F238E27FC236}">
                <a16:creationId xmlns:a16="http://schemas.microsoft.com/office/drawing/2014/main" id="{EC847135-4D99-3A53-B1B7-E3D336BFC3C9}"/>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429123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237CF-A83A-523D-0F77-065F910E66CE}"/>
              </a:ext>
            </a:extLst>
          </p:cNvPr>
          <p:cNvSpPr>
            <a:spLocks noGrp="1"/>
          </p:cNvSpPr>
          <p:nvPr>
            <p:ph type="title"/>
          </p:nvPr>
        </p:nvSpPr>
        <p:spPr/>
        <p:txBody>
          <a:bodyPr>
            <a:normAutofit/>
          </a:bodyPr>
          <a:lstStyle/>
          <a:p>
            <a:r>
              <a:rPr lang="en-IN" sz="3600" kern="100" dirty="0">
                <a:solidFill>
                  <a:srgbClr val="000000"/>
                </a:solidFill>
                <a:effectLst/>
                <a:latin typeface="+mn-lt"/>
                <a:ea typeface="Times New Roman" panose="02020603050405020304" pitchFamily="18" charset="0"/>
              </a:rPr>
              <a:t>Bottom Subplot: Final Sorted Data </a:t>
            </a:r>
            <a:br>
              <a:rPr lang="en-IN" sz="2800" kern="100" dirty="0">
                <a:solidFill>
                  <a:srgbClr val="000000"/>
                </a:solidFill>
                <a:effectLst/>
                <a:latin typeface="Times New Roman" panose="02020603050405020304" pitchFamily="18" charset="0"/>
                <a:ea typeface="Times New Roman" panose="02020603050405020304" pitchFamily="18" charset="0"/>
              </a:rPr>
            </a:br>
            <a:endParaRPr lang="en-IN" sz="2800" dirty="0"/>
          </a:p>
        </p:txBody>
      </p:sp>
      <p:sp>
        <p:nvSpPr>
          <p:cNvPr id="3" name="Content Placeholder 2">
            <a:extLst>
              <a:ext uri="{FF2B5EF4-FFF2-40B4-BE49-F238E27FC236}">
                <a16:creationId xmlns:a16="http://schemas.microsoft.com/office/drawing/2014/main" id="{835D1D94-3471-D705-4EBC-C8FD127B2386}"/>
              </a:ext>
            </a:extLst>
          </p:cNvPr>
          <p:cNvSpPr>
            <a:spLocks noGrp="1"/>
          </p:cNvSpPr>
          <p:nvPr>
            <p:ph idx="1"/>
          </p:nvPr>
        </p:nvSpPr>
        <p:spPr/>
        <p:txBody>
          <a:bodyPr>
            <a:normAutofit fontScale="85000" lnSpcReduction="20000"/>
          </a:bodyPr>
          <a:lstStyle/>
          <a:p>
            <a:pPr marL="342900" marR="226060" lvl="0" indent="-342900" algn="just" fontAlgn="base">
              <a:lnSpc>
                <a:spcPct val="120000"/>
              </a:lnSpc>
              <a:spcAft>
                <a:spcPts val="730"/>
              </a:spcAft>
              <a:buClr>
                <a:srgbClr val="000000"/>
              </a:buClr>
              <a:buSzPts val="1000"/>
              <a:buFont typeface="Arial" panose="020B0604020202020204" pitchFamily="34" charset="0"/>
              <a:buChar char="•"/>
            </a:pPr>
            <a:r>
              <a:rPr lang="en-IN" sz="2400"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X-axis:</a:t>
            </a: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Labeled "Index," this now represents the position of each data point in the </a:t>
            </a:r>
            <a:r>
              <a:rPr lang="en-IN" sz="2400" i="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sorted</a:t>
            </a: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sequence (from 0 to around 40). </a:t>
            </a:r>
          </a:p>
          <a:p>
            <a:pPr marL="342900" marR="226060" lvl="0" indent="-342900" algn="just" fontAlgn="base">
              <a:lnSpc>
                <a:spcPct val="120000"/>
              </a:lnSpc>
              <a:spcAft>
                <a:spcPts val="730"/>
              </a:spcAft>
              <a:buClr>
                <a:srgbClr val="000000"/>
              </a:buClr>
              <a:buSzPts val="1000"/>
              <a:buFont typeface="Arial" panose="020B0604020202020204" pitchFamily="34" charset="0"/>
              <a:buChar char="•"/>
            </a:pPr>
            <a:r>
              <a:rPr lang="en-IN" sz="2400"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Y-axis:</a:t>
            </a: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Labeled "Value," this still represents the magnitude of each data point (ranging from 0 to 100).</a:t>
            </a:r>
          </a:p>
          <a:p>
            <a:pPr marL="342900" marR="226060" lvl="0" indent="-342900" algn="just" fontAlgn="base">
              <a:lnSpc>
                <a:spcPct val="120000"/>
              </a:lnSpc>
              <a:spcAft>
                <a:spcPts val="730"/>
              </a:spcAft>
              <a:buClr>
                <a:srgbClr val="000000"/>
              </a:buClr>
              <a:buSzPts val="1000"/>
              <a:buFont typeface="Arial" panose="020B0604020202020204" pitchFamily="34" charset="0"/>
              <a:buChar char="•"/>
            </a:pPr>
            <a:r>
              <a:rPr lang="en-IN" sz="2400"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Color:</a:t>
            </a: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The bars are green, visually distinguishing the sorted data from the original unsorted data (blue bars in the top subplot). </a:t>
            </a:r>
          </a:p>
          <a:p>
            <a:pPr marL="342900" marR="226060" lvl="0" indent="-342900" algn="just" fontAlgn="base">
              <a:lnSpc>
                <a:spcPct val="120000"/>
              </a:lnSpc>
              <a:spcAft>
                <a:spcPts val="1390"/>
              </a:spcAft>
              <a:buClr>
                <a:srgbClr val="000000"/>
              </a:buClr>
              <a:buSzPts val="1000"/>
              <a:buFont typeface="Arial" panose="020B0604020202020204" pitchFamily="34" charset="0"/>
              <a:buChar char="•"/>
            </a:pPr>
            <a:r>
              <a:rPr lang="en-IN" sz="2400"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Interpretation:</a:t>
            </a: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The key observation here is that the bars are now arranged in ascending order from left to right. The height of each subsequent bar is greater than or equal to the height of the preceding bar. This clearly demonstrates that the sorting process has successfully ordered the data points by their value. The previously scattered values from the top subplot are now organized into a nondecreasing sequence. </a:t>
            </a:r>
          </a:p>
          <a:p>
            <a:endParaRPr lang="en-IN" dirty="0"/>
          </a:p>
        </p:txBody>
      </p:sp>
      <p:sp>
        <p:nvSpPr>
          <p:cNvPr id="4" name="Footer Placeholder 3">
            <a:extLst>
              <a:ext uri="{FF2B5EF4-FFF2-40B4-BE49-F238E27FC236}">
                <a16:creationId xmlns:a16="http://schemas.microsoft.com/office/drawing/2014/main" id="{1A57D724-F3B1-BDB2-90E5-CB95C02D5BC2}"/>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4137748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D86D8-B871-4F0D-A187-08083190E99D}"/>
              </a:ext>
            </a:extLst>
          </p:cNvPr>
          <p:cNvSpPr>
            <a:spLocks noGrp="1"/>
          </p:cNvSpPr>
          <p:nvPr>
            <p:ph type="title"/>
          </p:nvPr>
        </p:nvSpPr>
        <p:spPr>
          <a:xfrm>
            <a:off x="838200" y="1"/>
            <a:ext cx="10515600" cy="1007390"/>
          </a:xfrm>
        </p:spPr>
        <p:txBody>
          <a:bodyPr>
            <a:normAutofit/>
          </a:bodyPr>
          <a:lstStyle/>
          <a:p>
            <a:r>
              <a:rPr lang="en-IN" dirty="0"/>
              <a:t>Conclusion</a:t>
            </a:r>
            <a:endParaRPr lang="en-US" dirty="0"/>
          </a:p>
        </p:txBody>
      </p:sp>
      <p:sp>
        <p:nvSpPr>
          <p:cNvPr id="3" name="Content Placeholder 2">
            <a:extLst>
              <a:ext uri="{FF2B5EF4-FFF2-40B4-BE49-F238E27FC236}">
                <a16:creationId xmlns:a16="http://schemas.microsoft.com/office/drawing/2014/main" id="{6092D6A4-B5B2-40DD-89A5-0F6613B0A0A5}"/>
              </a:ext>
            </a:extLst>
          </p:cNvPr>
          <p:cNvSpPr>
            <a:spLocks noGrp="1"/>
          </p:cNvSpPr>
          <p:nvPr>
            <p:ph idx="1"/>
          </p:nvPr>
        </p:nvSpPr>
        <p:spPr>
          <a:xfrm>
            <a:off x="838200" y="1007391"/>
            <a:ext cx="10515600" cy="5348959"/>
          </a:xfrm>
        </p:spPr>
        <p:txBody>
          <a:bodyPr>
            <a:noAutofit/>
          </a:bodyPr>
          <a:lstStyle/>
          <a:p>
            <a:pPr marR="226060" indent="0">
              <a:lnSpc>
                <a:spcPct val="150000"/>
              </a:lnSpc>
              <a:spcAft>
                <a:spcPts val="730"/>
              </a:spcAft>
              <a:buNone/>
            </a:pPr>
            <a:r>
              <a:rPr lang="en-IN" sz="2400" kern="100" dirty="0">
                <a:solidFill>
                  <a:srgbClr val="000000"/>
                </a:solidFill>
                <a:effectLst/>
                <a:latin typeface="Times New Roman" panose="02020603050405020304" pitchFamily="18" charset="0"/>
                <a:ea typeface="Times New Roman" panose="02020603050405020304" pitchFamily="18" charset="0"/>
              </a:rPr>
              <a:t>    The Python simulation effectively demonstrates the core principles of parallel sorting on a conceptual OCCT network. It successfully models data distribution into buckets based on value ranges, simulates concurrent sorting of these buckets across multiple nodes using multiprocessing, and visualizes the entire process from the initial unsorted state to the final sorted output. The analysis highlights the potential for significant performance gains through parallelization, although the actual efficiency is noted to be dependent on uniform data distribution. The visualization provides a clear and intuitive understanding of the data flow and the outcome of this simulated parallel sorting algorithm. </a:t>
            </a:r>
          </a:p>
        </p:txBody>
      </p:sp>
      <p:sp>
        <p:nvSpPr>
          <p:cNvPr id="4" name="Footer Placeholder 3">
            <a:extLst>
              <a:ext uri="{FF2B5EF4-FFF2-40B4-BE49-F238E27FC236}">
                <a16:creationId xmlns:a16="http://schemas.microsoft.com/office/drawing/2014/main" id="{7C73EC79-5218-4D98-9AC9-0E7778BDF306}"/>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1670843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0927E65-0D30-D21A-5FC8-8105CA2FACA5}"/>
              </a:ext>
            </a:extLst>
          </p:cNvPr>
          <p:cNvSpPr>
            <a:spLocks noGrp="1"/>
          </p:cNvSpPr>
          <p:nvPr>
            <p:ph type="ftr" sz="quarter" idx="11"/>
          </p:nvPr>
        </p:nvSpPr>
        <p:spPr/>
        <p:txBody>
          <a:bodyPr/>
          <a:lstStyle/>
          <a:p>
            <a:r>
              <a:rPr lang="en-US"/>
              <a:t>BCA  VI Semester - BCAPRON601 - Mini Project</a:t>
            </a:r>
          </a:p>
        </p:txBody>
      </p:sp>
      <p:sp>
        <p:nvSpPr>
          <p:cNvPr id="4" name="TextBox 3">
            <a:extLst>
              <a:ext uri="{FF2B5EF4-FFF2-40B4-BE49-F238E27FC236}">
                <a16:creationId xmlns:a16="http://schemas.microsoft.com/office/drawing/2014/main" id="{0B40B4DB-5BBE-6B80-EE4B-F651FFE019A4}"/>
              </a:ext>
            </a:extLst>
          </p:cNvPr>
          <p:cNvSpPr txBox="1"/>
          <p:nvPr/>
        </p:nvSpPr>
        <p:spPr>
          <a:xfrm>
            <a:off x="1188720" y="1537970"/>
            <a:ext cx="10505440" cy="3903954"/>
          </a:xfrm>
          <a:prstGeom prst="rect">
            <a:avLst/>
          </a:prstGeom>
          <a:noFill/>
        </p:spPr>
        <p:txBody>
          <a:bodyPr wrap="square">
            <a:spAutoFit/>
          </a:bodyPr>
          <a:lstStyle/>
          <a:p>
            <a:pPr algn="just">
              <a:lnSpc>
                <a:spcPct val="150000"/>
              </a:lnSpc>
            </a:pPr>
            <a:r>
              <a:rPr lang="en-IN" sz="2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primary goal of this project is to achieve the efficient sorting of a collection of elements through the implementation of the Parallel Bucket Sort algorithm in Python. This algorithm's inherent parallel nature offers the potential for significant performance improvements when sorting large datasets. To evaluate its effectiveness, the implemented algorithm will be tested on a random dataset, providing insights into its real-world performance characteristics, including execution time and resource utilization.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6221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3BA93-9523-4DC6-B7FF-F90E86DBB70A}"/>
              </a:ext>
            </a:extLst>
          </p:cNvPr>
          <p:cNvSpPr>
            <a:spLocks noGrp="1"/>
          </p:cNvSpPr>
          <p:nvPr>
            <p:ph type="title"/>
          </p:nvPr>
        </p:nvSpPr>
        <p:spPr>
          <a:xfrm>
            <a:off x="559558" y="365125"/>
            <a:ext cx="10794242" cy="997685"/>
          </a:xfrm>
        </p:spPr>
        <p:txBody>
          <a:bodyPr>
            <a:normAutofit/>
          </a:bodyPr>
          <a:lstStyle/>
          <a:p>
            <a:r>
              <a:rPr lang="en-IN" dirty="0"/>
              <a:t>Contribution of your work</a:t>
            </a:r>
            <a:r>
              <a:rPr lang="en-IN" b="0" dirty="0"/>
              <a:t> </a:t>
            </a:r>
            <a:endParaRPr lang="en-US" dirty="0"/>
          </a:p>
        </p:txBody>
      </p:sp>
      <p:sp>
        <p:nvSpPr>
          <p:cNvPr id="3" name="Content Placeholder 2">
            <a:extLst>
              <a:ext uri="{FF2B5EF4-FFF2-40B4-BE49-F238E27FC236}">
                <a16:creationId xmlns:a16="http://schemas.microsoft.com/office/drawing/2014/main" id="{FD9D2984-AD49-412A-89DD-D85EEB0D532D}"/>
              </a:ext>
            </a:extLst>
          </p:cNvPr>
          <p:cNvSpPr>
            <a:spLocks noGrp="1"/>
          </p:cNvSpPr>
          <p:nvPr>
            <p:ph idx="1"/>
          </p:nvPr>
        </p:nvSpPr>
        <p:spPr>
          <a:xfrm>
            <a:off x="838200" y="1542197"/>
            <a:ext cx="10515600" cy="4634766"/>
          </a:xfrm>
        </p:spPr>
        <p:txBody>
          <a:bodyPr>
            <a:normAutofit/>
          </a:bodyPr>
          <a:lstStyle/>
          <a:p>
            <a:pPr>
              <a:lnSpc>
                <a:spcPct val="150000"/>
              </a:lnSpc>
            </a:pPr>
            <a:r>
              <a:rPr lang="en-US" sz="2400" b="1" dirty="0">
                <a:latin typeface="Times New Roman" panose="02020603050405020304" pitchFamily="18" charset="0"/>
                <a:cs typeface="Times New Roman" panose="02020603050405020304" pitchFamily="18" charset="0"/>
              </a:rPr>
              <a:t>Efficient Sorting of Large Datasets:</a:t>
            </a:r>
            <a:r>
              <a:rPr lang="en-US" sz="2400" dirty="0">
                <a:latin typeface="Times New Roman" panose="02020603050405020304" pitchFamily="18" charset="0"/>
                <a:cs typeface="Times New Roman" panose="02020603050405020304" pitchFamily="18" charset="0"/>
              </a:rPr>
              <a:t> The algorithm can handle large datasets and scale with the number of nodes, making it suitable for big data applications.</a:t>
            </a:r>
          </a:p>
          <a:p>
            <a:pPr>
              <a:lnSpc>
                <a:spcPct val="150000"/>
              </a:lnSpc>
            </a:pPr>
            <a:r>
              <a:rPr lang="en-US" sz="2400" b="1" dirty="0">
                <a:latin typeface="Times New Roman" panose="02020603050405020304" pitchFamily="18" charset="0"/>
                <a:cs typeface="Times New Roman" panose="02020603050405020304" pitchFamily="18" charset="0"/>
              </a:rPr>
              <a:t>Improved Performance: </a:t>
            </a:r>
            <a:r>
              <a:rPr lang="en-US" sz="2400" dirty="0">
                <a:latin typeface="Times New Roman" panose="02020603050405020304" pitchFamily="18" charset="0"/>
                <a:cs typeface="Times New Roman" panose="02020603050405020304" pitchFamily="18" charset="0"/>
              </a:rPr>
              <a:t>Parallel processing reduces overall sorting time, achieving significant speedup and efficiency gains.</a:t>
            </a:r>
          </a:p>
          <a:p>
            <a:pPr>
              <a:lnSpc>
                <a:spcPct val="150000"/>
              </a:lnSpc>
            </a:pPr>
            <a:r>
              <a:rPr lang="en-US" sz="2400" b="1" dirty="0">
                <a:latin typeface="Times New Roman" panose="02020603050405020304" pitchFamily="18" charset="0"/>
                <a:cs typeface="Times New Roman" panose="02020603050405020304" pitchFamily="18" charset="0"/>
              </a:rPr>
              <a:t>OCCT Network Utilization: </a:t>
            </a:r>
            <a:r>
              <a:rPr lang="en-US" sz="2400" dirty="0">
                <a:latin typeface="Times New Roman" panose="02020603050405020304" pitchFamily="18" charset="0"/>
                <a:cs typeface="Times New Roman" panose="02020603050405020304" pitchFamily="18" charset="0"/>
              </a:rPr>
              <a:t>The OCCT network's architecture enables fast data transfer between nodes, leveraging optical links for long-distance communication and providing speed and low power consumption.</a:t>
            </a:r>
          </a:p>
          <a:p>
            <a:pPr marL="0" indent="0">
              <a:buNone/>
            </a:pPr>
            <a:endParaRPr lang="en-US" dirty="0"/>
          </a:p>
        </p:txBody>
      </p:sp>
      <p:sp>
        <p:nvSpPr>
          <p:cNvPr id="4" name="Footer Placeholder 3">
            <a:extLst>
              <a:ext uri="{FF2B5EF4-FFF2-40B4-BE49-F238E27FC236}">
                <a16:creationId xmlns:a16="http://schemas.microsoft.com/office/drawing/2014/main" id="{8E05BA89-728A-4126-8305-433FC7DF6A95}"/>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4164760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3BA93-9523-4DC6-B7FF-F90E86DBB70A}"/>
              </a:ext>
            </a:extLst>
          </p:cNvPr>
          <p:cNvSpPr>
            <a:spLocks noGrp="1"/>
          </p:cNvSpPr>
          <p:nvPr>
            <p:ph type="title"/>
          </p:nvPr>
        </p:nvSpPr>
        <p:spPr>
          <a:xfrm>
            <a:off x="559558" y="365125"/>
            <a:ext cx="10794242" cy="997685"/>
          </a:xfrm>
        </p:spPr>
        <p:txBody>
          <a:bodyPr>
            <a:normAutofit/>
          </a:bodyPr>
          <a:lstStyle/>
          <a:p>
            <a:r>
              <a:rPr lang="en-US" dirty="0"/>
              <a:t>Future Scope</a:t>
            </a:r>
          </a:p>
        </p:txBody>
      </p:sp>
      <p:sp>
        <p:nvSpPr>
          <p:cNvPr id="3" name="Content Placeholder 2">
            <a:extLst>
              <a:ext uri="{FF2B5EF4-FFF2-40B4-BE49-F238E27FC236}">
                <a16:creationId xmlns:a16="http://schemas.microsoft.com/office/drawing/2014/main" id="{FD9D2984-AD49-412A-89DD-D85EEB0D532D}"/>
              </a:ext>
            </a:extLst>
          </p:cNvPr>
          <p:cNvSpPr>
            <a:spLocks noGrp="1"/>
          </p:cNvSpPr>
          <p:nvPr>
            <p:ph idx="1"/>
          </p:nvPr>
        </p:nvSpPr>
        <p:spPr>
          <a:xfrm>
            <a:off x="838200" y="1542197"/>
            <a:ext cx="10515600" cy="4634766"/>
          </a:xfrm>
        </p:spPr>
        <p:txBody>
          <a:bodyPr>
            <a:normAutofit/>
          </a:bodyPr>
          <a:lstStyle/>
          <a:p>
            <a:pPr lvl="1">
              <a:lnSpc>
                <a:spcPct val="100000"/>
              </a:lnSpc>
            </a:pPr>
            <a:r>
              <a:rPr lang="en-IN"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Application-Specific Tuning:</a:t>
            </a:r>
            <a:r>
              <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Creating specialized versions of the algorithm optimized for common data distributions in specific fields. </a:t>
            </a:r>
          </a:p>
          <a:p>
            <a:pPr marL="457200" lvl="1" indent="0">
              <a:lnSpc>
                <a:spcPct val="100000"/>
              </a:lnSpc>
              <a:buNone/>
            </a:pPr>
            <a:endPar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endParaRPr>
          </a:p>
          <a:p>
            <a:pPr lvl="1">
              <a:lnSpc>
                <a:spcPct val="100000"/>
              </a:lnSpc>
            </a:pPr>
            <a:r>
              <a:rPr lang="en-IN"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Energy Efficiency:</a:t>
            </a:r>
            <a:r>
              <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Developing power-aware scheduling and data movement strategies for the algorithm on the OCCT. </a:t>
            </a:r>
          </a:p>
          <a:p>
            <a:pPr marL="457200" lvl="1" indent="0">
              <a:lnSpc>
                <a:spcPct val="100000"/>
              </a:lnSpc>
              <a:buNone/>
            </a:pPr>
            <a:endPar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endParaRPr>
          </a:p>
          <a:p>
            <a:pPr lvl="1">
              <a:lnSpc>
                <a:spcPct val="100000"/>
              </a:lnSpc>
            </a:pPr>
            <a:r>
              <a:rPr lang="en-IN"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Large-Scale Scalability:</a:t>
            </a:r>
            <a:r>
              <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Thoroughly evaluating the algorithm's performance on larger simulated or emulated OCCT architectures. </a:t>
            </a:r>
          </a:p>
          <a:p>
            <a:pPr marL="457200" lvl="1" indent="0">
              <a:lnSpc>
                <a:spcPct val="100000"/>
              </a:lnSpc>
              <a:buNone/>
            </a:pPr>
            <a:endPar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endParaRPr>
          </a:p>
          <a:p>
            <a:pPr lvl="1">
              <a:lnSpc>
                <a:spcPct val="100000"/>
              </a:lnSpc>
            </a:pPr>
            <a:r>
              <a:rPr lang="en-IN"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Fault Tolerance:</a:t>
            </a:r>
            <a:r>
              <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Adapting the algorithm to handle node or link failures within the OCCT network. </a:t>
            </a:r>
          </a:p>
          <a:p>
            <a:pPr marL="457200" lvl="1" indent="0">
              <a:buNone/>
            </a:pPr>
            <a:endParaRPr lang="en-US" dirty="0"/>
          </a:p>
        </p:txBody>
      </p:sp>
      <p:sp>
        <p:nvSpPr>
          <p:cNvPr id="4" name="Footer Placeholder 3">
            <a:extLst>
              <a:ext uri="{FF2B5EF4-FFF2-40B4-BE49-F238E27FC236}">
                <a16:creationId xmlns:a16="http://schemas.microsoft.com/office/drawing/2014/main" id="{8E05BA89-728A-4126-8305-433FC7DF6A95}"/>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989911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5DA32-6B4C-4D18-B167-52C4C3A1ECB3}"/>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C3E29C6E-90FF-41D6-8B11-3CEB6E2F0620}"/>
              </a:ext>
            </a:extLst>
          </p:cNvPr>
          <p:cNvSpPr>
            <a:spLocks noGrp="1"/>
          </p:cNvSpPr>
          <p:nvPr>
            <p:ph idx="1"/>
          </p:nvPr>
        </p:nvSpPr>
        <p:spPr/>
        <p:txBody>
          <a:bodyPr>
            <a:normAutofit/>
          </a:bodyPr>
          <a:lstStyle/>
          <a:p>
            <a:pPr marR="240030">
              <a:lnSpc>
                <a:spcPct val="107000"/>
              </a:lnSpc>
              <a:spcAft>
                <a:spcPts val="25"/>
              </a:spcAft>
            </a:pPr>
            <a:r>
              <a:rPr lang="en-IN" sz="2400" b="1" kern="100" dirty="0">
                <a:solidFill>
                  <a:srgbClr val="000000"/>
                </a:solidFill>
                <a:effectLst/>
                <a:latin typeface="Times New Roman" panose="02020603050405020304" pitchFamily="18" charset="0"/>
                <a:ea typeface="Times New Roman" panose="02020603050405020304" pitchFamily="18" charset="0"/>
              </a:rPr>
              <a:t>“Parallel bucket sort algorithm on optical chained-cubic tree  interconnection network ” </a:t>
            </a:r>
            <a:r>
              <a:rPr lang="en-IN" sz="2400" kern="100" dirty="0">
                <a:solidFill>
                  <a:srgbClr val="000000"/>
                </a:solidFill>
                <a:effectLst/>
                <a:latin typeface="Times New Roman" panose="02020603050405020304" pitchFamily="18" charset="0"/>
                <a:ea typeface="Times New Roman" panose="02020603050405020304" pitchFamily="18" charset="0"/>
              </a:rPr>
              <a:t>by </a:t>
            </a:r>
            <a:r>
              <a:rPr lang="en-IN" sz="2400" dirty="0">
                <a:solidFill>
                  <a:srgbClr val="000000"/>
                </a:solidFill>
                <a:effectLst/>
                <a:latin typeface="Times New Roman" panose="02020603050405020304" pitchFamily="18" charset="0"/>
                <a:ea typeface="Times New Roman" panose="02020603050405020304" pitchFamily="18" charset="0"/>
              </a:rPr>
              <a:t>Basel A. Mahafzah(2023).</a:t>
            </a:r>
            <a:endParaRPr lang="en-IN" sz="2400" kern="100" dirty="0">
              <a:solidFill>
                <a:srgbClr val="000000"/>
              </a:solidFill>
              <a:effectLst/>
              <a:latin typeface="Times New Roman" panose="02020603050405020304" pitchFamily="18" charset="0"/>
              <a:ea typeface="Times New Roman" panose="02020603050405020304" pitchFamily="18" charset="0"/>
            </a:endParaRPr>
          </a:p>
          <a:p>
            <a:pPr marL="457200" lvl="1" indent="0">
              <a:buNone/>
            </a:pPr>
            <a:endParaRPr lang="en-IN" b="1" kern="100" dirty="0">
              <a:solidFill>
                <a:srgbClr val="000000"/>
              </a:solidFill>
              <a:effectLst/>
              <a:latin typeface="Times New Roman" panose="02020603050405020304" pitchFamily="18" charset="0"/>
              <a:ea typeface="Times New Roman" panose="02020603050405020304" pitchFamily="18" charset="0"/>
            </a:endParaRPr>
          </a:p>
          <a:p>
            <a:r>
              <a:rPr lang="en-US" sz="2400" dirty="0"/>
              <a:t> </a:t>
            </a:r>
            <a:r>
              <a:rPr lang="en-US" sz="2400" b="1" dirty="0">
                <a:latin typeface="Times New Roman" panose="02020603050405020304" pitchFamily="18" charset="0"/>
                <a:cs typeface="Times New Roman" panose="02020603050405020304" pitchFamily="18" charset="0"/>
              </a:rPr>
              <a:t>“</a:t>
            </a:r>
            <a:r>
              <a:rPr lang="en-IN" sz="2400" b="1" dirty="0">
                <a:solidFill>
                  <a:srgbClr val="000000"/>
                </a:solidFill>
                <a:effectLst/>
                <a:latin typeface="Times New Roman" panose="02020603050405020304" pitchFamily="18" charset="0"/>
                <a:ea typeface="Times New Roman" panose="02020603050405020304" pitchFamily="18" charset="0"/>
              </a:rPr>
              <a:t>The Optical Chained-Cubic Tree interconnection network: Topological structure and properties</a:t>
            </a:r>
            <a:r>
              <a:rPr lang="en-US" sz="2400" b="1" dirty="0">
                <a:latin typeface="Times New Roman" panose="02020603050405020304" pitchFamily="18" charset="0"/>
                <a:cs typeface="Times New Roman" panose="02020603050405020304" pitchFamily="18" charset="0"/>
              </a:rPr>
              <a:t>”</a:t>
            </a:r>
            <a:r>
              <a:rPr lang="en-IN" sz="2400" b="1" dirty="0">
                <a:solidFill>
                  <a:srgbClr val="000000"/>
                </a:solidFill>
                <a:effectLst/>
                <a:latin typeface="Times New Roman" panose="02020603050405020304" pitchFamily="18" charset="0"/>
                <a:ea typeface="Times New Roman" panose="02020603050405020304" pitchFamily="18" charset="0"/>
              </a:rPr>
              <a:t> </a:t>
            </a:r>
            <a:r>
              <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by  </a:t>
            </a:r>
            <a:r>
              <a:rPr lang="en-IN" sz="2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Mahafzah B. A. K(2012).</a:t>
            </a:r>
          </a:p>
          <a:p>
            <a:pPr marL="0" indent="0">
              <a:buNone/>
            </a:pPr>
            <a:endParaRPr lang="en-IN" sz="2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The online resources that we have referred to our project:</a:t>
            </a:r>
            <a:endParaRPr lang="en-US"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solidFill>
                  <a:schemeClr val="accent1">
                    <a:lumMod val="75000"/>
                  </a:schemeClr>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https://chatgpt.com/</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solidFill>
                  <a:schemeClr val="accent1">
                    <a:lumMod val="75000"/>
                  </a:schemeClr>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https://gemini.google.com/</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a:p>
            <a:pPr marL="0" indent="0">
              <a:buNone/>
            </a:pP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609532E-5389-4B87-856C-3D0FCE58B47E}"/>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1826560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A9ACF0-EBDC-44C8-AEE3-023A150E5512}"/>
              </a:ext>
            </a:extLst>
          </p:cNvPr>
          <p:cNvSpPr>
            <a:spLocks noGrp="1"/>
          </p:cNvSpPr>
          <p:nvPr>
            <p:ph type="title"/>
          </p:nvPr>
        </p:nvSpPr>
        <p:spPr>
          <a:xfrm>
            <a:off x="838200" y="3125337"/>
            <a:ext cx="10515600" cy="982639"/>
          </a:xfrm>
        </p:spPr>
        <p:txBody>
          <a:bodyPr/>
          <a:lstStyle/>
          <a:p>
            <a:pPr algn="ctr"/>
            <a:r>
              <a:rPr lang="en-US" b="1" dirty="0"/>
              <a:t>Thank You</a:t>
            </a:r>
          </a:p>
        </p:txBody>
      </p:sp>
      <p:sp>
        <p:nvSpPr>
          <p:cNvPr id="5" name="Text Placeholder 4">
            <a:extLst>
              <a:ext uri="{FF2B5EF4-FFF2-40B4-BE49-F238E27FC236}">
                <a16:creationId xmlns:a16="http://schemas.microsoft.com/office/drawing/2014/main" id="{7CB7DDE0-96B7-43F0-8589-9DD549958198}"/>
              </a:ext>
            </a:extLst>
          </p:cNvPr>
          <p:cNvSpPr>
            <a:spLocks noGrp="1"/>
          </p:cNvSpPr>
          <p:nvPr>
            <p:ph type="body" idx="1"/>
          </p:nvPr>
        </p:nvSpPr>
        <p:spPr>
          <a:xfrm>
            <a:off x="831850" y="5418161"/>
            <a:ext cx="10515600" cy="671489"/>
          </a:xfrm>
        </p:spPr>
        <p:txBody>
          <a:bodyPr/>
          <a:lstStyle/>
          <a:p>
            <a:r>
              <a:rPr lang="en-US" dirty="0"/>
              <a:t>Team No: 14</a:t>
            </a:r>
          </a:p>
        </p:txBody>
      </p:sp>
      <p:sp>
        <p:nvSpPr>
          <p:cNvPr id="6" name="Footer Placeholder 5">
            <a:extLst>
              <a:ext uri="{FF2B5EF4-FFF2-40B4-BE49-F238E27FC236}">
                <a16:creationId xmlns:a16="http://schemas.microsoft.com/office/drawing/2014/main" id="{264E4A06-A2DD-4423-8AD1-463E6F996030}"/>
              </a:ext>
            </a:extLst>
          </p:cNvPr>
          <p:cNvSpPr>
            <a:spLocks noGrp="1"/>
          </p:cNvSpPr>
          <p:nvPr>
            <p:ph type="ftr" sz="quarter" idx="11"/>
          </p:nvPr>
        </p:nvSpPr>
        <p:spPr/>
        <p:txBody>
          <a:bodyPr/>
          <a:lstStyle/>
          <a:p>
            <a:r>
              <a:rPr lang="en-US"/>
              <a:t>BCA  VI Semester - BCAPRON601 - Mini Project</a:t>
            </a:r>
            <a:endParaRPr lang="en-US" dirty="0"/>
          </a:p>
        </p:txBody>
      </p:sp>
      <p:sp>
        <p:nvSpPr>
          <p:cNvPr id="7" name="Rectangle 6">
            <a:extLst>
              <a:ext uri="{FF2B5EF4-FFF2-40B4-BE49-F238E27FC236}">
                <a16:creationId xmlns:a16="http://schemas.microsoft.com/office/drawing/2014/main" id="{D45BBC62-9DDC-48AC-A2E3-2ECAF8301919}"/>
              </a:ext>
            </a:extLst>
          </p:cNvPr>
          <p:cNvSpPr/>
          <p:nvPr/>
        </p:nvSpPr>
        <p:spPr>
          <a:xfrm>
            <a:off x="1806838" y="645809"/>
            <a:ext cx="8802685" cy="923330"/>
          </a:xfrm>
          <a:prstGeom prst="rect">
            <a:avLst/>
          </a:prstGeom>
        </p:spPr>
        <p:txBody>
          <a:bodyPr wrap="square">
            <a:spAutoFit/>
          </a:bodyPr>
          <a:lstStyle/>
          <a:p>
            <a:pPr algn="ctr"/>
            <a:r>
              <a:rPr lang="en-IN" sz="20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Dr G Shankar Government Women’s First Grade College &amp; PG Study Centre</a:t>
            </a:r>
          </a:p>
          <a:p>
            <a:pPr algn="ctr"/>
            <a:r>
              <a:rPr lang="en-IN" sz="14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p>
          <a:p>
            <a:pPr algn="ctr"/>
            <a:r>
              <a:rPr lang="en-IN" sz="20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Ajjarkadu Udupi</a:t>
            </a:r>
            <a:endParaRPr lang="en-US" sz="2000" b="1" dirty="0">
              <a:effectLst/>
              <a:latin typeface="Arial Black" panose="020B0A04020102020204" pitchFamily="34" charset="0"/>
            </a:endParaRPr>
          </a:p>
        </p:txBody>
      </p:sp>
      <p:pic>
        <p:nvPicPr>
          <p:cNvPr id="9" name="Picture 2" descr="Dr G Shankar Govt Womens First Grade College &amp; PG Study Centre, Udupi">
            <a:extLst>
              <a:ext uri="{FF2B5EF4-FFF2-40B4-BE49-F238E27FC236}">
                <a16:creationId xmlns:a16="http://schemas.microsoft.com/office/drawing/2014/main" id="{A83A16D3-77F7-4CBF-9087-5E2F47744B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89827" y="624769"/>
            <a:ext cx="898717" cy="106947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Image result for dce karnataka logo">
            <a:extLst>
              <a:ext uri="{FF2B5EF4-FFF2-40B4-BE49-F238E27FC236}">
                <a16:creationId xmlns:a16="http://schemas.microsoft.com/office/drawing/2014/main" id="{C66082D6-5173-4502-B060-8B24B7DBE2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02" y="645809"/>
            <a:ext cx="1219783" cy="1185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8192193"/>
      </p:ext>
    </p:extLst>
  </p:cSld>
  <p:clrMapOvr>
    <a:masterClrMapping/>
  </p:clrMapOvr>
</p:sld>
</file>

<file path=ppt/theme/theme1.xml><?xml version="1.0" encoding="utf-8"?>
<a:theme xmlns:a="http://schemas.openxmlformats.org/drawingml/2006/main" name="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696</TotalTime>
  <Words>1682</Words>
  <Application>Microsoft Office PowerPoint</Application>
  <PresentationFormat>Widescreen</PresentationFormat>
  <Paragraphs>149</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Arial Black</vt:lpstr>
      <vt:lpstr>Calibri</vt:lpstr>
      <vt:lpstr>Calibri Light</vt:lpstr>
      <vt:lpstr>Times New Roman</vt:lpstr>
      <vt:lpstr>Office Theme</vt:lpstr>
      <vt:lpstr>Parallel Bucket Sort on Optical Chained Cubic Tree Interconnection Network</vt:lpstr>
      <vt:lpstr>Table of Contents</vt:lpstr>
      <vt:lpstr>Parallel Bucket Sort on Optical Chained Cubic Tree Interconnection Network</vt:lpstr>
      <vt:lpstr>Problem Statement </vt:lpstr>
      <vt:lpstr>Objectives</vt:lpstr>
      <vt:lpstr>System Design</vt:lpstr>
      <vt:lpstr>Implementation</vt:lpstr>
      <vt:lpstr>PowerPoint Presentation</vt:lpstr>
      <vt:lpstr>Flow Chart</vt:lpstr>
      <vt:lpstr>Analysis</vt:lpstr>
      <vt:lpstr>Evaluation</vt:lpstr>
      <vt:lpstr>PowerPoint Presentation</vt:lpstr>
      <vt:lpstr>Top Subplot: Original Unsorted Data </vt:lpstr>
      <vt:lpstr>Middle Subplot: Data Distribution Across OCCT Nodes (Buckets)  </vt:lpstr>
      <vt:lpstr>Bottom Subplot: Final Sorted Data  </vt:lpstr>
      <vt:lpstr>Conclusion</vt:lpstr>
      <vt:lpstr>PowerPoint Presentation</vt:lpstr>
      <vt:lpstr>Contribution of your work </vt:lpstr>
      <vt:lpstr>Future Scope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Mani</dc:creator>
  <cp:lastModifiedBy>shetty shwetha</cp:lastModifiedBy>
  <cp:revision>58</cp:revision>
  <dcterms:created xsi:type="dcterms:W3CDTF">2019-11-30T04:24:55Z</dcterms:created>
  <dcterms:modified xsi:type="dcterms:W3CDTF">2025-05-25T13:47:06Z</dcterms:modified>
</cp:coreProperties>
</file>